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1" d="100"/>
          <a:sy n="31" d="100"/>
        </p:scale>
        <p:origin x="13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E0159-D82B-FB01-CA1C-07F794FF3D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CE641-9F18-6954-BADF-89B52EB15A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9A82D-94A1-D386-125C-85A149EAC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0736D-917F-CAC1-5F09-AB3A941D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72406-ED02-0352-3562-25D236FEA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470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7B72AA-47D9-F88E-E963-99A211585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C1329-9767-BB55-A5C0-9D4C2FD1B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71D03-AA06-970C-BA72-F8316FCEC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71391-3E0E-2373-55E7-37E5BE8D0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A2075B-4155-90F1-334F-74C31CEE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301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DFA04-3232-A4EE-A698-057DC50A1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56956E-6A21-1330-58C9-F182E90C7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99E78-6D88-BA5E-63C1-46BEBC982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A13E8-4D02-6CE1-0A82-29D1FFD4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E687A-1823-4217-4971-8BFDB906F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05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1D1E2-657E-A8DA-8298-7B16D815F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3F345-4DBD-8226-FEA6-3EABCD974A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5DB0A-79F0-D0A3-495D-F5A2EF15F1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FDF876-4ACA-A229-5131-6F14D2ABF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16F6A-993D-329B-A969-35AF94E6E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5DBAC7-80B1-26D4-8229-4C372282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655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F46FB-AF9C-35BE-E83D-713BB8FC2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9164-B8E2-BF82-652F-8043E32EF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37F73B-288A-44C7-0B74-10C1258CD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C3B877-8AAC-A4A4-F10B-E805993900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3A894-07F4-A64B-148B-460FC6E467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8200C4-9DCB-C0FD-AD95-6AF3C06D7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E480B9-EC06-9EC6-1115-1D4EEDBE4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AA3C20-C52C-DD41-8F07-81B4C541C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87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A2C95-3532-3CD7-3225-23CCA403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BC7AC2-7FCA-73AE-E43C-2DFFA2DBC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B7CBDF-810D-4C5B-F83E-EEDDC1645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B780F-6FB9-41D6-17B9-D4EAF291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163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84FE3-E1D1-5B19-6B3E-FD0407CCC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54870CC-81BC-BC28-039C-ED44D3939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9BE77-E351-CCAC-00E2-8D6DC9715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1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BD79-35B6-36E8-0746-9101A91CA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7EE4F-1FC1-5EBD-3FD0-EEE441239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7A69D4-0F3D-9316-FFC1-651A51593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8F4A05-0CB1-E6B6-FEB2-6AFFD159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ACB671-F5B7-DB6E-EE90-74DE712E9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948478-46B4-8D75-AE6A-D8938393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1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4A7E0-9B28-D53F-AC6D-08D8EBAA8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8C11DD-2F23-913E-9CFA-77820149DE6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7D65E-9E0F-05E7-B522-B719BE6AB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2ED2A-643A-461E-D2C9-3B06964E4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EA87E1-7CE0-EFBE-227B-DC9C61F5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F84CA-38A7-10BD-47CB-D54C55A63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16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7A43C-303E-83B5-DC12-9D127365F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8FFF7D-798E-B5C9-9D4D-69AB707E2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95A65F-52CE-F20B-C932-810467C1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DF78B-5193-54A7-15DC-28333FA16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052998-78F8-952D-1830-3E63415EF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6749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B85E25-FC7B-F036-951D-35211B994A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46729D-5033-96EC-D253-EE3A640B0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B2B148-8708-AD8D-9B1E-5753DF34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DEE56-4C4A-5EF3-1B30-7646994A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E2885-AA43-4DA5-0923-07506900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127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CDB017-A8F4-B53D-022A-1340CE110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40D3-78A0-A2DA-BC95-40FAE9B9B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B165-C75A-9994-70B7-2F4FD74609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3820B-A8F5-40FF-AA84-3110F6B6F3C3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436-0A45-2B09-DABB-ADCD071950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CD8D7-23B2-C34D-C72A-8001878B3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7B4BE8-3B27-461F-81AD-11B37257BA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473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793F0FB-BAA9-64F8-EBDD-79DEB7F05770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0217BF-C3AC-16E3-F325-8DD5A64853A4}"/>
              </a:ext>
            </a:extLst>
          </p:cNvPr>
          <p:cNvSpPr txBox="1"/>
          <p:nvPr/>
        </p:nvSpPr>
        <p:spPr>
          <a:xfrm>
            <a:off x="787400" y="609599"/>
            <a:ext cx="6350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FFFFFF"/>
                </a:solidFill>
                <a:latin typeface="Arial" panose="020B0604020202020204" pitchFamily="34" charset="0"/>
              </a:rPr>
              <a:t>SAKSHYA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87ADD0-ACB6-9907-AA34-D67723793F93}"/>
              </a:ext>
            </a:extLst>
          </p:cNvPr>
          <p:cNvSpPr txBox="1"/>
          <p:nvPr/>
        </p:nvSpPr>
        <p:spPr>
          <a:xfrm>
            <a:off x="787400" y="1066799"/>
            <a:ext cx="6350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hi-IN" sz="1200">
                <a:solidFill>
                  <a:srgbClr val="CAD7E6"/>
                </a:solidFill>
                <a:latin typeface="Arial" panose="020B0604020202020204" pitchFamily="34" charset="0"/>
              </a:rPr>
              <a:t>साक्ष्य  /  </a:t>
            </a:r>
            <a:r>
              <a:rPr lang="en-US" sz="1200">
                <a:solidFill>
                  <a:srgbClr val="CAD7E6"/>
                </a:solidFill>
                <a:latin typeface="Arial" panose="020B0604020202020204" pitchFamily="34" charset="0"/>
              </a:rPr>
              <a:t>Evidence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1138B5-3C0A-4586-A73D-66A935800EB6}"/>
              </a:ext>
            </a:extLst>
          </p:cNvPr>
          <p:cNvSpPr txBox="1"/>
          <p:nvPr/>
        </p:nvSpPr>
        <p:spPr>
          <a:xfrm>
            <a:off x="787400" y="2044699"/>
            <a:ext cx="9906000" cy="146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Arial" panose="020B0604020202020204" pitchFamily="34" charset="0"/>
              </a:rPr>
              <a:t>AICTE security deposits,
with evidence at every step.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91AF9D-9039-5629-8F28-EA27BF3152F9}"/>
              </a:ext>
            </a:extLst>
          </p:cNvPr>
          <p:cNvSpPr txBox="1"/>
          <p:nvPr/>
        </p:nvSpPr>
        <p:spPr>
          <a:xfrm>
            <a:off x="812800" y="3733799"/>
            <a:ext cx="9080500" cy="711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D3DEEB"/>
                </a:solidFill>
                <a:latin typeface="Arial" panose="020B0604020202020204" pitchFamily="34" charset="0"/>
              </a:rPr>
              <a:t>A single, accountable journey from institute FDR submission to verified release and settlement.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12BC327-73F4-5E72-E528-6C30AA892329}"/>
              </a:ext>
            </a:extLst>
          </p:cNvPr>
          <p:cNvSpPr/>
          <p:nvPr/>
        </p:nvSpPr>
        <p:spPr>
          <a:xfrm>
            <a:off x="812800" y="4953000"/>
            <a:ext cx="1600200" cy="317500"/>
          </a:xfrm>
          <a:prstGeom prst="round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9EC473-B969-FCE6-2564-B3CB3A02C63B}"/>
              </a:ext>
            </a:extLst>
          </p:cNvPr>
          <p:cNvSpPr txBox="1"/>
          <p:nvPr/>
        </p:nvSpPr>
        <p:spPr>
          <a:xfrm>
            <a:off x="812800" y="5016500"/>
            <a:ext cx="16002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0B1F3A"/>
                </a:solidFill>
                <a:latin typeface="Arial" panose="020B0604020202020204" pitchFamily="34" charset="0"/>
              </a:rPr>
              <a:t>SIH 2026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EF4B8AF-791C-7D74-2864-9A5108591196}"/>
              </a:ext>
            </a:extLst>
          </p:cNvPr>
          <p:cNvSpPr/>
          <p:nvPr/>
        </p:nvSpPr>
        <p:spPr>
          <a:xfrm>
            <a:off x="2565400" y="4953000"/>
            <a:ext cx="23495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AFE8E2-A2AB-CD61-A2A4-C2D37A1E469E}"/>
              </a:ext>
            </a:extLst>
          </p:cNvPr>
          <p:cNvSpPr txBox="1"/>
          <p:nvPr/>
        </p:nvSpPr>
        <p:spPr>
          <a:xfrm>
            <a:off x="2565400" y="5016500"/>
            <a:ext cx="2349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PROTOTYPE v1.0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E9BD2-9D13-67D3-B2B5-CEA6B6DEDE6B}"/>
              </a:ext>
            </a:extLst>
          </p:cNvPr>
          <p:cNvSpPr txBox="1"/>
          <p:nvPr/>
        </p:nvSpPr>
        <p:spPr>
          <a:xfrm>
            <a:off x="812800" y="5803899"/>
            <a:ext cx="9906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CAD7E6"/>
                </a:solidFill>
                <a:latin typeface="Arial" panose="020B0604020202020204" pitchFamily="34" charset="0"/>
              </a:rPr>
              <a:t>Evidence-led workflow  /  Role-based control  /  Verifiable letters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2CA54-926B-032C-C9BC-81C2CD36B85B}"/>
              </a:ext>
            </a:extLst>
          </p:cNvPr>
          <p:cNvSpPr txBox="1"/>
          <p:nvPr/>
        </p:nvSpPr>
        <p:spPr>
          <a:xfrm>
            <a:off x="812800" y="6477000"/>
            <a:ext cx="9398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A8BBD0"/>
                </a:solidFill>
                <a:latin typeface="Arial" panose="020B0604020202020204" pitchFamily="34" charset="0"/>
              </a:rPr>
              <a:t>Sakshya = evidence / witness | Source: SRS-SAK-001, §§1.1–1.4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FC759E8-A06E-5880-3B51-EA35C3973E99}"/>
              </a:ext>
            </a:extLst>
          </p:cNvPr>
          <p:cNvSpPr txBox="1"/>
          <p:nvPr/>
        </p:nvSpPr>
        <p:spPr>
          <a:xfrm>
            <a:off x="11099800" y="64770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A8BBD0"/>
                </a:solidFill>
                <a:latin typeface="Arial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1941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6908B8-BA29-E7D6-1F48-0EFD5998C41B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01 / THE 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238EA-37B4-BD3B-A715-E9CFC6826C2C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A deposit is only as trustworthy as its evidence.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C9C93-4591-E654-8BA0-D7D425A67497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The workflow breaks when records, verification and deadlines live in different places.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E2E381-EFD1-A731-21A1-932607546F0B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8438F5-05A3-8FEA-9924-886C80FD6787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C189EC-540C-4FE5-2FE8-51964C4103FF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SRS §§1.2–1.3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82DA9-058E-6B58-A1D5-9572A3A4775B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68548F0-E9F4-A050-6009-97AE28D899D2}"/>
              </a:ext>
            </a:extLst>
          </p:cNvPr>
          <p:cNvSpPr/>
          <p:nvPr/>
        </p:nvSpPr>
        <p:spPr>
          <a:xfrm>
            <a:off x="609600" y="1917700"/>
            <a:ext cx="5334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6CE81B-28E4-DA90-6E57-52C1BBB777C7}"/>
              </a:ext>
            </a:extLst>
          </p:cNvPr>
          <p:cNvSpPr/>
          <p:nvPr/>
        </p:nvSpPr>
        <p:spPr>
          <a:xfrm>
            <a:off x="609600" y="1917700"/>
            <a:ext cx="63500" cy="16764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9FF641-4D0F-7FF9-E7B5-69B8BE973CC6}"/>
              </a:ext>
            </a:extLst>
          </p:cNvPr>
          <p:cNvSpPr txBox="1"/>
          <p:nvPr/>
        </p:nvSpPr>
        <p:spPr>
          <a:xfrm>
            <a:off x="838200" y="2108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Scattered records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C3ECDC-47D7-1258-5ECA-E8ECDE4BCD53}"/>
              </a:ext>
            </a:extLst>
          </p:cNvPr>
          <p:cNvSpPr txBox="1"/>
          <p:nvPr/>
        </p:nvSpPr>
        <p:spPr>
          <a:xfrm>
            <a:off x="838200" y="2527299"/>
            <a:ext cx="4902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Files, email and registers create fragmented views of institute obligations and FDRs.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8E6FD8-0495-A293-0114-342D7EFC18B2}"/>
              </a:ext>
            </a:extLst>
          </p:cNvPr>
          <p:cNvSpPr/>
          <p:nvPr/>
        </p:nvSpPr>
        <p:spPr>
          <a:xfrm>
            <a:off x="6248400" y="1917700"/>
            <a:ext cx="5334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261BB0-DF0E-8AA2-F05E-D3AA5E6173D5}"/>
              </a:ext>
            </a:extLst>
          </p:cNvPr>
          <p:cNvSpPr/>
          <p:nvPr/>
        </p:nvSpPr>
        <p:spPr>
          <a:xfrm>
            <a:off x="6248400" y="1917700"/>
            <a:ext cx="63500" cy="16764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ADB284-663B-ABD5-3D4A-4492297D0E92}"/>
              </a:ext>
            </a:extLst>
          </p:cNvPr>
          <p:cNvSpPr txBox="1"/>
          <p:nvPr/>
        </p:nvSpPr>
        <p:spPr>
          <a:xfrm>
            <a:off x="6477000" y="2108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Claims mistaken for facts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B7975D-2FDF-AB90-0EE4-62755506A08E}"/>
              </a:ext>
            </a:extLst>
          </p:cNvPr>
          <p:cNvSpPr txBox="1"/>
          <p:nvPr/>
        </p:nvSpPr>
        <p:spPr>
          <a:xfrm>
            <a:off x="6477000" y="2527299"/>
            <a:ext cx="4902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An uploaded receipt is an institute claim; it is not independent proof of a valid lien.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BF9DF8A-6A93-C090-7251-5042579EE527}"/>
              </a:ext>
            </a:extLst>
          </p:cNvPr>
          <p:cNvSpPr/>
          <p:nvPr/>
        </p:nvSpPr>
        <p:spPr>
          <a:xfrm>
            <a:off x="609600" y="3886200"/>
            <a:ext cx="5334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1D5628-B4DC-3EBC-FEAF-BC8B1208D227}"/>
              </a:ext>
            </a:extLst>
          </p:cNvPr>
          <p:cNvSpPr/>
          <p:nvPr/>
        </p:nvSpPr>
        <p:spPr>
          <a:xfrm>
            <a:off x="609600" y="3886200"/>
            <a:ext cx="63500" cy="16764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E115A2F-6EB9-F4B3-12D5-B8A54BDB4917}"/>
              </a:ext>
            </a:extLst>
          </p:cNvPr>
          <p:cNvSpPr txBox="1"/>
          <p:nvPr/>
        </p:nvSpPr>
        <p:spPr>
          <a:xfrm>
            <a:off x="838200" y="40766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Time depends on memory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2E92B1-FE4C-A9C4-8E19-84E2BAE49DAE}"/>
              </a:ext>
            </a:extLst>
          </p:cNvPr>
          <p:cNvSpPr txBox="1"/>
          <p:nvPr/>
        </p:nvSpPr>
        <p:spPr>
          <a:xfrm>
            <a:off x="838200" y="4495799"/>
            <a:ext cx="4902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Maturity, renewal and follow-up dates can be missed when tracking is manual.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5E5BCC3-E9B3-9CD5-C189-34E4D60DFB7E}"/>
              </a:ext>
            </a:extLst>
          </p:cNvPr>
          <p:cNvSpPr/>
          <p:nvPr/>
        </p:nvSpPr>
        <p:spPr>
          <a:xfrm>
            <a:off x="6248400" y="3886200"/>
            <a:ext cx="5334000" cy="1676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7EFFFA1-E696-5842-1C45-D56AEFEB053C}"/>
              </a:ext>
            </a:extLst>
          </p:cNvPr>
          <p:cNvSpPr/>
          <p:nvPr/>
        </p:nvSpPr>
        <p:spPr>
          <a:xfrm>
            <a:off x="6248400" y="3886200"/>
            <a:ext cx="63500" cy="16764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381FF2-22FC-EB2B-1D9B-C6915D2F8FEA}"/>
              </a:ext>
            </a:extLst>
          </p:cNvPr>
          <p:cNvSpPr txBox="1"/>
          <p:nvPr/>
        </p:nvSpPr>
        <p:spPr>
          <a:xfrm>
            <a:off x="6477000" y="40766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Release lacks a visible chain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C44364-C220-8D0E-280B-C95B062D5E11}"/>
              </a:ext>
            </a:extLst>
          </p:cNvPr>
          <p:cNvSpPr txBox="1"/>
          <p:nvPr/>
        </p:nvSpPr>
        <p:spPr>
          <a:xfrm>
            <a:off x="6477000" y="4495799"/>
            <a:ext cx="4902200" cy="939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Eligibility, signing, bank execution and AICTE credit need distinct owners and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3AD62E8-5C09-F457-C2BB-E45329E5EFB5}"/>
              </a:ext>
            </a:extLst>
          </p:cNvPr>
          <p:cNvSpPr txBox="1"/>
          <p:nvPr/>
        </p:nvSpPr>
        <p:spPr>
          <a:xfrm>
            <a:off x="609600" y="5727699"/>
            <a:ext cx="1092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0B1F3A"/>
                </a:solidFill>
                <a:latin typeface="Arial" panose="020B0604020202020204" pitchFamily="34" charset="0"/>
              </a:rPr>
              <a:t>Design response: one versioned case record, explicit trust levels and auditable state changes.</a:t>
            </a:r>
          </a:p>
        </p:txBody>
      </p:sp>
    </p:spTree>
    <p:extLst>
      <p:ext uri="{BB962C8B-B14F-4D97-AF65-F5344CB8AC3E}">
        <p14:creationId xmlns:p14="http://schemas.microsoft.com/office/powerpoint/2010/main" val="2926629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C01E82B-DA85-A36E-8A7F-4EBDB2CE9221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02 / THE SOLUTION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4F53BE-8B01-5FA1-5FD0-042E101523E7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One case record. Evidence grows; authority stays separated.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12E21-8346-DEE5-F605-68C181F2C0F7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Sakshya connects institute, bank, officer, Release Authority and Finance around a shared lifecycle.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F3F409-9564-F673-D564-DAD6C04868D4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03C832-8DBC-66C0-147B-25A14AD009C5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E700C9-398D-59DE-4505-AF119EF0B26A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700">
                <a:solidFill>
                  <a:srgbClr val="5D6F83"/>
                </a:solidFill>
                <a:latin typeface="Arial" panose="020B0604020202020204" pitchFamily="34" charset="0"/>
              </a:rPr>
              <a:t>Source: SRS §§1.2, 7.2, 9.1</a:t>
            </a:r>
            <a:endParaRPr lang="en-US" sz="700">
              <a:solidFill>
                <a:srgbClr val="5D6F8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34EB19-2AAB-C22C-9A4C-556C488C77FE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5AF35BB-73B1-8AE9-D678-27B18E473145}"/>
              </a:ext>
            </a:extLst>
          </p:cNvPr>
          <p:cNvSpPr/>
          <p:nvPr/>
        </p:nvSpPr>
        <p:spPr>
          <a:xfrm>
            <a:off x="609600" y="2628900"/>
            <a:ext cx="2413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B34D80-26A8-1375-1A9C-35C3E276D687}"/>
              </a:ext>
            </a:extLst>
          </p:cNvPr>
          <p:cNvSpPr/>
          <p:nvPr/>
        </p:nvSpPr>
        <p:spPr>
          <a:xfrm>
            <a:off x="609600" y="2628900"/>
            <a:ext cx="2413000" cy="1016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DDE4AC-8721-A825-62B7-886D0E135AE9}"/>
              </a:ext>
            </a:extLst>
          </p:cNvPr>
          <p:cNvSpPr txBox="1"/>
          <p:nvPr/>
        </p:nvSpPr>
        <p:spPr>
          <a:xfrm>
            <a:off x="825500" y="2946399"/>
            <a:ext cx="71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3A75B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E8ED3-8D7D-DF89-74C9-D88FD623221C}"/>
              </a:ext>
            </a:extLst>
          </p:cNvPr>
          <p:cNvSpPr txBox="1"/>
          <p:nvPr/>
        </p:nvSpPr>
        <p:spPr>
          <a:xfrm>
            <a:off x="825500" y="3492499"/>
            <a:ext cx="1968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1F3A"/>
                </a:solidFill>
                <a:latin typeface="Arial" panose="020B0604020202020204" pitchFamily="34" charset="0"/>
              </a:rPr>
              <a:t>Submit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A91EBEA-65E0-1DAD-2A41-840F81F17952}"/>
              </a:ext>
            </a:extLst>
          </p:cNvPr>
          <p:cNvSpPr txBox="1"/>
          <p:nvPr/>
        </p:nvSpPr>
        <p:spPr>
          <a:xfrm>
            <a:off x="825500" y="4000499"/>
            <a:ext cx="19685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Institute submits FDR details and document.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C5B21AD-DBBE-535B-24B2-4EE289EFEF33}"/>
              </a:ext>
            </a:extLst>
          </p:cNvPr>
          <p:cNvSpPr/>
          <p:nvPr/>
        </p:nvSpPr>
        <p:spPr>
          <a:xfrm>
            <a:off x="3416300" y="2628900"/>
            <a:ext cx="2413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8D8338-09D1-0770-9B0D-9C7169025497}"/>
              </a:ext>
            </a:extLst>
          </p:cNvPr>
          <p:cNvSpPr/>
          <p:nvPr/>
        </p:nvSpPr>
        <p:spPr>
          <a:xfrm>
            <a:off x="3416300" y="2628900"/>
            <a:ext cx="2413000" cy="1016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D22136-4C76-C383-0CC8-BCD31354A895}"/>
              </a:ext>
            </a:extLst>
          </p:cNvPr>
          <p:cNvSpPr txBox="1"/>
          <p:nvPr/>
        </p:nvSpPr>
        <p:spPr>
          <a:xfrm>
            <a:off x="3632200" y="2946399"/>
            <a:ext cx="71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298F97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51FE57-D2D4-A0AF-F3BC-9AA515131BC3}"/>
              </a:ext>
            </a:extLst>
          </p:cNvPr>
          <p:cNvSpPr txBox="1"/>
          <p:nvPr/>
        </p:nvSpPr>
        <p:spPr>
          <a:xfrm>
            <a:off x="3632200" y="3492499"/>
            <a:ext cx="1968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1F3A"/>
                </a:solidFill>
                <a:latin typeface="Arial" panose="020B0604020202020204" pitchFamily="34" charset="0"/>
              </a:rPr>
              <a:t>Verify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1E1C5F-F94B-5C6A-0B8E-04CBC7687481}"/>
              </a:ext>
            </a:extLst>
          </p:cNvPr>
          <p:cNvSpPr txBox="1"/>
          <p:nvPr/>
        </p:nvSpPr>
        <p:spPr>
          <a:xfrm>
            <a:off x="3632200" y="4000499"/>
            <a:ext cx="19685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Checks raise explainable flags; bank confirms directly.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1790723-DA2D-C3ED-7754-9C9BEC939DEE}"/>
              </a:ext>
            </a:extLst>
          </p:cNvPr>
          <p:cNvSpPr/>
          <p:nvPr/>
        </p:nvSpPr>
        <p:spPr>
          <a:xfrm>
            <a:off x="6223000" y="2628900"/>
            <a:ext cx="2413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4C72C88-5004-44D5-C6F2-BB3E1576C51E}"/>
              </a:ext>
            </a:extLst>
          </p:cNvPr>
          <p:cNvSpPr/>
          <p:nvPr/>
        </p:nvSpPr>
        <p:spPr>
          <a:xfrm>
            <a:off x="6223000" y="2628900"/>
            <a:ext cx="2413000" cy="1016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BCC2EE9-854C-78BF-1653-95E39E2FA4C1}"/>
              </a:ext>
            </a:extLst>
          </p:cNvPr>
          <p:cNvSpPr txBox="1"/>
          <p:nvPr/>
        </p:nvSpPr>
        <p:spPr>
          <a:xfrm>
            <a:off x="6438900" y="2946399"/>
            <a:ext cx="71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EC9D2A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558726-9DFA-4E4D-56E1-7A5F25C4DA03}"/>
              </a:ext>
            </a:extLst>
          </p:cNvPr>
          <p:cNvSpPr txBox="1"/>
          <p:nvPr/>
        </p:nvSpPr>
        <p:spPr>
          <a:xfrm>
            <a:off x="6438900" y="3492499"/>
            <a:ext cx="1968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1F3A"/>
                </a:solidFill>
                <a:latin typeface="Arial" panose="020B0604020202020204" pitchFamily="34" charset="0"/>
              </a:rPr>
              <a:t>Monitor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C8ECD24-0BF4-591C-CE26-2F0ACAB4AA22}"/>
              </a:ext>
            </a:extLst>
          </p:cNvPr>
          <p:cNvSpPr txBox="1"/>
          <p:nvPr/>
        </p:nvSpPr>
        <p:spPr>
          <a:xfrm>
            <a:off x="6438900" y="4000499"/>
            <a:ext cx="19685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Track obligation, maturity, renewal and exceptions.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F157320-4CEA-849B-C67B-29D67DA41FA7}"/>
              </a:ext>
            </a:extLst>
          </p:cNvPr>
          <p:cNvSpPr/>
          <p:nvPr/>
        </p:nvSpPr>
        <p:spPr>
          <a:xfrm>
            <a:off x="9029700" y="2628900"/>
            <a:ext cx="2413000" cy="233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9A01EB-5842-0311-9B7D-8F1784CABA55}"/>
              </a:ext>
            </a:extLst>
          </p:cNvPr>
          <p:cNvSpPr/>
          <p:nvPr/>
        </p:nvSpPr>
        <p:spPr>
          <a:xfrm>
            <a:off x="9029700" y="2628900"/>
            <a:ext cx="2413000" cy="1016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61B2C2-A9FB-BDCE-1D7D-C5BE27AEA135}"/>
              </a:ext>
            </a:extLst>
          </p:cNvPr>
          <p:cNvSpPr txBox="1"/>
          <p:nvPr/>
        </p:nvSpPr>
        <p:spPr>
          <a:xfrm>
            <a:off x="9245600" y="2946399"/>
            <a:ext cx="7112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900" b="1">
                <a:solidFill>
                  <a:srgbClr val="208462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E559E-6980-AC0D-12E9-A9E248B2BF44}"/>
              </a:ext>
            </a:extLst>
          </p:cNvPr>
          <p:cNvSpPr txBox="1"/>
          <p:nvPr/>
        </p:nvSpPr>
        <p:spPr>
          <a:xfrm>
            <a:off x="9245600" y="3492499"/>
            <a:ext cx="19685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700" b="1">
                <a:solidFill>
                  <a:srgbClr val="0B1F3A"/>
                </a:solidFill>
                <a:latin typeface="Arial" panose="020B0604020202020204" pitchFamily="34" charset="0"/>
              </a:rPr>
              <a:t>Release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DBB2A97-6B89-84B3-47F7-F463382B4A46}"/>
              </a:ext>
            </a:extLst>
          </p:cNvPr>
          <p:cNvSpPr txBox="1"/>
          <p:nvPr/>
        </p:nvSpPr>
        <p:spPr>
          <a:xfrm>
            <a:off x="9245600" y="4000499"/>
            <a:ext cx="1968500" cy="723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Eligibility, signed letter, bank execution, settlement.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9AB32A-A0DF-372E-92A4-366BC35D2D44}"/>
              </a:ext>
            </a:extLst>
          </p:cNvPr>
          <p:cNvSpPr txBox="1"/>
          <p:nvPr/>
        </p:nvSpPr>
        <p:spPr>
          <a:xfrm>
            <a:off x="3124200" y="3581400"/>
            <a:ext cx="203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F83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4EE6E0B-5FA8-C2EC-97C1-570541C860F4}"/>
              </a:ext>
            </a:extLst>
          </p:cNvPr>
          <p:cNvSpPr txBox="1"/>
          <p:nvPr/>
        </p:nvSpPr>
        <p:spPr>
          <a:xfrm>
            <a:off x="5930900" y="3581400"/>
            <a:ext cx="203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F83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F4774BA-EE01-E122-6ED1-3C11CBAEE131}"/>
              </a:ext>
            </a:extLst>
          </p:cNvPr>
          <p:cNvSpPr txBox="1"/>
          <p:nvPr/>
        </p:nvSpPr>
        <p:spPr>
          <a:xfrm>
            <a:off x="8737600" y="3581400"/>
            <a:ext cx="2032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b="1">
                <a:solidFill>
                  <a:srgbClr val="5D6F83"/>
                </a:solidFill>
                <a:latin typeface="Arial" panose="020B0604020202020204" pitchFamily="34" charset="0"/>
              </a:rPr>
              <a:t>&gt;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2AEAAC-07EA-6329-5E11-810161E589E5}"/>
              </a:ext>
            </a:extLst>
          </p:cNvPr>
          <p:cNvSpPr txBox="1"/>
          <p:nvPr/>
        </p:nvSpPr>
        <p:spPr>
          <a:xfrm>
            <a:off x="609600" y="5372099"/>
            <a:ext cx="109220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No single upload or automated flag can promote a claimed value to a bank-confirmed fact.</a:t>
            </a:r>
          </a:p>
        </p:txBody>
      </p:sp>
    </p:spTree>
    <p:extLst>
      <p:ext uri="{BB962C8B-B14F-4D97-AF65-F5344CB8AC3E}">
        <p14:creationId xmlns:p14="http://schemas.microsoft.com/office/powerpoint/2010/main" val="3016090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DFA54-676F-C659-B7F4-4F4AFCDE4A19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03 / WHAT IS DIFFERENT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9CA4D8-507D-78FD-5825-DFB68623ECBB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Trust is field-level—not a green tick on a whole file.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9DEB8C-D845-F8A8-1CA0-122A492FD477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Evidence, provenance and uncertainty remain visible as a case moves forward.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BAA757-5779-7AAB-7962-88BEAA62D908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674FC8-0759-C8C2-8437-0A9086F3CCBA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787D4F-07A3-B759-C8E8-F38CF6D2EE6D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l-PL" sz="700">
                <a:solidFill>
                  <a:srgbClr val="5D6F83"/>
                </a:solidFill>
                <a:latin typeface="Arial" panose="020B0604020202020204" pitchFamily="34" charset="0"/>
              </a:rPr>
              <a:t>Source: SRS §§1.4, 1.5; U1–U4</a:t>
            </a:r>
            <a:endParaRPr lang="en-US" sz="700">
              <a:solidFill>
                <a:srgbClr val="5D6F8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9D5858-C6AF-5C84-64F0-E4B25DA79C91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C64CAEC-3E51-ADD4-91FB-86995E379547}"/>
              </a:ext>
            </a:extLst>
          </p:cNvPr>
          <p:cNvSpPr/>
          <p:nvPr/>
        </p:nvSpPr>
        <p:spPr>
          <a:xfrm>
            <a:off x="939800" y="2260600"/>
            <a:ext cx="2921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97D817-4522-1E78-5BC9-19EC57E494BE}"/>
              </a:ext>
            </a:extLst>
          </p:cNvPr>
          <p:cNvSpPr/>
          <p:nvPr/>
        </p:nvSpPr>
        <p:spPr>
          <a:xfrm>
            <a:off x="939800" y="2260600"/>
            <a:ext cx="2921000" cy="88900"/>
          </a:xfrm>
          <a:prstGeom prst="rect">
            <a:avLst/>
          </a:prstGeom>
          <a:solidFill>
            <a:srgbClr val="5D6F83"/>
          </a:solidFill>
          <a:ln w="12700">
            <a:solidFill>
              <a:srgbClr val="5D6F8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5BADD3-12CA-FAE0-7ED3-E2C2FDD963FD}"/>
              </a:ext>
            </a:extLst>
          </p:cNvPr>
          <p:cNvSpPr txBox="1"/>
          <p:nvPr/>
        </p:nvSpPr>
        <p:spPr>
          <a:xfrm>
            <a:off x="1168400" y="2552699"/>
            <a:ext cx="2413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5D6F83"/>
                </a:solidFill>
                <a:latin typeface="Arial" panose="020B0604020202020204" pitchFamily="34" charset="0"/>
              </a:rPr>
              <a:t>L0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26F7A6-A814-0A8D-B952-1BA0CE24407B}"/>
              </a:ext>
            </a:extLst>
          </p:cNvPr>
          <p:cNvSpPr txBox="1"/>
          <p:nvPr/>
        </p:nvSpPr>
        <p:spPr>
          <a:xfrm>
            <a:off x="1168400" y="3111499"/>
            <a:ext cx="2438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Claimed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ED5F6CD-0F76-A1CB-DB43-B4DD68105358}"/>
              </a:ext>
            </a:extLst>
          </p:cNvPr>
          <p:cNvSpPr txBox="1"/>
          <p:nvPr/>
        </p:nvSpPr>
        <p:spPr>
          <a:xfrm>
            <a:off x="1168400" y="3670299"/>
            <a:ext cx="24384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D6F83"/>
                </a:solidFill>
                <a:latin typeface="Arial" panose="020B0604020202020204" pitchFamily="34" charset="0"/>
              </a:rPr>
              <a:t>Institute-submitted value
Evidence: submitted document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36F1138-1ADD-4150-F504-312082ADD289}"/>
              </a:ext>
            </a:extLst>
          </p:cNvPr>
          <p:cNvSpPr/>
          <p:nvPr/>
        </p:nvSpPr>
        <p:spPr>
          <a:xfrm>
            <a:off x="4635500" y="2260600"/>
            <a:ext cx="2921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75FFFF-9880-C4EC-6BD6-2EFB2015EC4A}"/>
              </a:ext>
            </a:extLst>
          </p:cNvPr>
          <p:cNvSpPr/>
          <p:nvPr/>
        </p:nvSpPr>
        <p:spPr>
          <a:xfrm>
            <a:off x="4635500" y="2260600"/>
            <a:ext cx="2921000" cy="889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C6B029-5163-D3DE-7BE3-71B273A3B347}"/>
              </a:ext>
            </a:extLst>
          </p:cNvPr>
          <p:cNvSpPr txBox="1"/>
          <p:nvPr/>
        </p:nvSpPr>
        <p:spPr>
          <a:xfrm>
            <a:off x="4864100" y="2552699"/>
            <a:ext cx="2413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EC9D2A"/>
                </a:solidFill>
                <a:latin typeface="Arial" panose="020B0604020202020204" pitchFamily="34" charset="0"/>
              </a:rPr>
              <a:t>L1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B68129-5FF0-9A7D-7C71-6EC46D8A7860}"/>
              </a:ext>
            </a:extLst>
          </p:cNvPr>
          <p:cNvSpPr txBox="1"/>
          <p:nvPr/>
        </p:nvSpPr>
        <p:spPr>
          <a:xfrm>
            <a:off x="4864100" y="3111499"/>
            <a:ext cx="2438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Attested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97E1C1-95EB-A198-624E-3679676E8617}"/>
              </a:ext>
            </a:extLst>
          </p:cNvPr>
          <p:cNvSpPr txBox="1"/>
          <p:nvPr/>
        </p:nvSpPr>
        <p:spPr>
          <a:xfrm>
            <a:off x="4864100" y="3670299"/>
            <a:ext cx="24384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D6F83"/>
                </a:solidFill>
                <a:latin typeface="Arial" panose="020B0604020202020204" pitchFamily="34" charset="0"/>
              </a:rPr>
              <a:t>Officer-reviewed value
Evidence: review and audit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F56D72D-7510-6640-4629-65D58FF385B9}"/>
              </a:ext>
            </a:extLst>
          </p:cNvPr>
          <p:cNvSpPr/>
          <p:nvPr/>
        </p:nvSpPr>
        <p:spPr>
          <a:xfrm>
            <a:off x="8331200" y="2260600"/>
            <a:ext cx="2921000" cy="2247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D2651E5-6C02-3D07-E290-69B7B8CE0922}"/>
              </a:ext>
            </a:extLst>
          </p:cNvPr>
          <p:cNvSpPr/>
          <p:nvPr/>
        </p:nvSpPr>
        <p:spPr>
          <a:xfrm>
            <a:off x="8331200" y="2260600"/>
            <a:ext cx="2921000" cy="889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08541A-9E58-987C-A9C7-F0EF4540ACC5}"/>
              </a:ext>
            </a:extLst>
          </p:cNvPr>
          <p:cNvSpPr txBox="1"/>
          <p:nvPr/>
        </p:nvSpPr>
        <p:spPr>
          <a:xfrm>
            <a:off x="8559800" y="2552699"/>
            <a:ext cx="2413000" cy="431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400" b="1">
                <a:solidFill>
                  <a:srgbClr val="208462"/>
                </a:solidFill>
                <a:latin typeface="Arial" panose="020B0604020202020204" pitchFamily="34" charset="0"/>
              </a:rPr>
              <a:t>L2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F4A1E9-29E6-E956-69F2-37A322FD8DFC}"/>
              </a:ext>
            </a:extLst>
          </p:cNvPr>
          <p:cNvSpPr txBox="1"/>
          <p:nvPr/>
        </p:nvSpPr>
        <p:spPr>
          <a:xfrm>
            <a:off x="8559800" y="3111499"/>
            <a:ext cx="24384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Bank-confirmed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7BC01D-A053-91EE-352C-D18B6A5AF455}"/>
              </a:ext>
            </a:extLst>
          </p:cNvPr>
          <p:cNvSpPr txBox="1"/>
          <p:nvPr/>
        </p:nvSpPr>
        <p:spPr>
          <a:xfrm>
            <a:off x="8559800" y="3670299"/>
            <a:ext cx="2438400" cy="660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D6F83"/>
                </a:solidFill>
                <a:latin typeface="Arial" panose="020B0604020202020204" pitchFamily="34" charset="0"/>
              </a:rPr>
              <a:t>Bank-confirmed value
Evidence: direct bank response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B3665-C7B7-81B1-5698-BAA1E5F64998}"/>
              </a:ext>
            </a:extLst>
          </p:cNvPr>
          <p:cNvSpPr txBox="1"/>
          <p:nvPr/>
        </p:nvSpPr>
        <p:spPr>
          <a:xfrm>
            <a:off x="939800" y="4940300"/>
            <a:ext cx="2286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U1 Trust chain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5F2192-543F-C7B3-63C8-334ACCBAC785}"/>
              </a:ext>
            </a:extLst>
          </p:cNvPr>
          <p:cNvSpPr txBox="1"/>
          <p:nvPr/>
        </p:nvSpPr>
        <p:spPr>
          <a:xfrm>
            <a:off x="939800" y="5219699"/>
            <a:ext cx="9906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U2 Hybrid lien: institute authorises; bank confirms directly to AICTE.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CDAE83-1128-86B6-0BB1-9F46851EF1AF}"/>
              </a:ext>
            </a:extLst>
          </p:cNvPr>
          <p:cNvSpPr txBox="1"/>
          <p:nvPr/>
        </p:nvSpPr>
        <p:spPr>
          <a:xfrm>
            <a:off x="939800" y="5549899"/>
            <a:ext cx="10160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192B3F"/>
                </a:solidFill>
                <a:latin typeface="Arial" panose="020B0604020202020204" pitchFamily="34" charset="0"/>
              </a:rPr>
              <a:t>U4 Document checks flag inconsistencies; they never approve or reject a deposit.</a:t>
            </a:r>
          </a:p>
        </p:txBody>
      </p:sp>
    </p:spTree>
    <p:extLst>
      <p:ext uri="{BB962C8B-B14F-4D97-AF65-F5344CB8AC3E}">
        <p14:creationId xmlns:p14="http://schemas.microsoft.com/office/powerpoint/2010/main" val="4018509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910B7E-6BC6-DD0E-71B5-6CA4F463A225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04 / PRODUCT PRINCIPLES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B024E1-2F1B-D2CB-D26F-56449C3E7FE3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Designed for explainability, continuity and accountability.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76E36-CA8F-55E9-9FF4-D0CBF437A597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Five controls turn the workflow into a chain of evidence—not just a form and a status.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024283-3505-2228-AEF3-BEEF7E350758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EF8A4F-BD92-4CE8-F522-8AFA0F94A094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4FB75A-DA20-A0A8-D7CB-1D78E4EAC314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l-PL" sz="700">
                <a:solidFill>
                  <a:srgbClr val="5D6F83"/>
                </a:solidFill>
                <a:latin typeface="Arial" panose="020B0604020202020204" pitchFamily="34" charset="0"/>
              </a:rPr>
              <a:t>Source: SRS §1.4; U3, U5–U8</a:t>
            </a:r>
            <a:endParaRPr lang="en-US" sz="700">
              <a:solidFill>
                <a:srgbClr val="5D6F83"/>
              </a:solidFill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D397AB-74C5-0680-EF6E-154883598BB1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CECF462-9710-CD88-5C90-174EF882C750}"/>
              </a:ext>
            </a:extLst>
          </p:cNvPr>
          <p:cNvSpPr/>
          <p:nvPr/>
        </p:nvSpPr>
        <p:spPr>
          <a:xfrm>
            <a:off x="609600" y="1917700"/>
            <a:ext cx="5334000" cy="161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62B6A1-7ECD-07E1-B049-EECD97D127EF}"/>
              </a:ext>
            </a:extLst>
          </p:cNvPr>
          <p:cNvSpPr/>
          <p:nvPr/>
        </p:nvSpPr>
        <p:spPr>
          <a:xfrm>
            <a:off x="609600" y="1917700"/>
            <a:ext cx="63500" cy="16129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68A1B0-71F0-75D4-6ECD-56DA4D6CD25C}"/>
              </a:ext>
            </a:extLst>
          </p:cNvPr>
          <p:cNvSpPr txBox="1"/>
          <p:nvPr/>
        </p:nvSpPr>
        <p:spPr>
          <a:xfrm>
            <a:off x="838200" y="2108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U3  Verifiable release letter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F00B86-CFBF-83C2-7B56-EBB60CED720D}"/>
              </a:ext>
            </a:extLst>
          </p:cNvPr>
          <p:cNvSpPr txBox="1"/>
          <p:nvPr/>
        </p:nvSpPr>
        <p:spPr>
          <a:xfrm>
            <a:off x="838200" y="2527299"/>
            <a:ext cx="4902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Hash-bound, QR-linked, time-limited and revocable; the bank checks status before acting.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5D3DCE5-F8D0-29D8-F790-58E3091759AF}"/>
              </a:ext>
            </a:extLst>
          </p:cNvPr>
          <p:cNvSpPr/>
          <p:nvPr/>
        </p:nvSpPr>
        <p:spPr>
          <a:xfrm>
            <a:off x="6248400" y="1917700"/>
            <a:ext cx="5334000" cy="161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175573-9701-5C44-9727-637D96B25280}"/>
              </a:ext>
            </a:extLst>
          </p:cNvPr>
          <p:cNvSpPr/>
          <p:nvPr/>
        </p:nvSpPr>
        <p:spPr>
          <a:xfrm>
            <a:off x="6248400" y="1917700"/>
            <a:ext cx="63500" cy="16129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2C236-8147-42AD-120C-46022C59CB62}"/>
              </a:ext>
            </a:extLst>
          </p:cNvPr>
          <p:cNvSpPr txBox="1"/>
          <p:nvPr/>
        </p:nvSpPr>
        <p:spPr>
          <a:xfrm>
            <a:off x="6477000" y="2108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U5  Continuous assurance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99EF74-7B84-B4FA-D78E-F8922CAD8776}"/>
              </a:ext>
            </a:extLst>
          </p:cNvPr>
          <p:cNvSpPr txBox="1"/>
          <p:nvPr/>
        </p:nvSpPr>
        <p:spPr>
          <a:xfrm>
            <a:off x="6477000" y="2527299"/>
            <a:ext cx="4902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Risk-based bank reconciliation helps surface lien changes and other exceptions.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9922A3D-5F91-C33C-AA11-DD304F69B2EB}"/>
              </a:ext>
            </a:extLst>
          </p:cNvPr>
          <p:cNvSpPr/>
          <p:nvPr/>
        </p:nvSpPr>
        <p:spPr>
          <a:xfrm>
            <a:off x="609600" y="3810000"/>
            <a:ext cx="5334000" cy="161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00B741-3A78-5CDD-16E4-6A531A68527F}"/>
              </a:ext>
            </a:extLst>
          </p:cNvPr>
          <p:cNvSpPr/>
          <p:nvPr/>
        </p:nvSpPr>
        <p:spPr>
          <a:xfrm>
            <a:off x="609600" y="3810000"/>
            <a:ext cx="63500" cy="16129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BB2F3E-D414-0C8B-3A44-206020B30F8A}"/>
              </a:ext>
            </a:extLst>
          </p:cNvPr>
          <p:cNvSpPr txBox="1"/>
          <p:nvPr/>
        </p:nvSpPr>
        <p:spPr>
          <a:xfrm>
            <a:off x="838200" y="40004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U6  Rules as configuration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AE4DA4-C023-DA81-3D07-689B30A0D754}"/>
              </a:ext>
            </a:extLst>
          </p:cNvPr>
          <p:cNvSpPr txBox="1"/>
          <p:nvPr/>
        </p:nvSpPr>
        <p:spPr>
          <a:xfrm>
            <a:off x="838200" y="4419599"/>
            <a:ext cx="4902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Policy values are versioned/configurable rather than buried in business logic.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328B493-A4E5-375B-284B-7406BB544E1D}"/>
              </a:ext>
            </a:extLst>
          </p:cNvPr>
          <p:cNvSpPr/>
          <p:nvPr/>
        </p:nvSpPr>
        <p:spPr>
          <a:xfrm>
            <a:off x="6248400" y="3810000"/>
            <a:ext cx="5334000" cy="16129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A7986C-2518-E3DC-3EB5-8E0B90058B77}"/>
              </a:ext>
            </a:extLst>
          </p:cNvPr>
          <p:cNvSpPr/>
          <p:nvPr/>
        </p:nvSpPr>
        <p:spPr>
          <a:xfrm>
            <a:off x="6248400" y="3810000"/>
            <a:ext cx="63500" cy="16129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6C8E6C-36D9-8030-5981-55BAC81D90AE}"/>
              </a:ext>
            </a:extLst>
          </p:cNvPr>
          <p:cNvSpPr txBox="1"/>
          <p:nvPr/>
        </p:nvSpPr>
        <p:spPr>
          <a:xfrm>
            <a:off x="6477000" y="40004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U7  Explainable priority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6ABE60-730C-D4DC-0A7A-E13FBFD007CB}"/>
              </a:ext>
            </a:extLst>
          </p:cNvPr>
          <p:cNvSpPr txBox="1"/>
          <p:nvPr/>
        </p:nvSpPr>
        <p:spPr>
          <a:xfrm>
            <a:off x="6477000" y="4419599"/>
            <a:ext cx="4902200" cy="876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Officers see why a case is prioritised, not only a score.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985CED5-91F6-D02B-BFCC-F4F764F378C8}"/>
              </a:ext>
            </a:extLst>
          </p:cNvPr>
          <p:cNvSpPr/>
          <p:nvPr/>
        </p:nvSpPr>
        <p:spPr>
          <a:xfrm>
            <a:off x="609600" y="5727700"/>
            <a:ext cx="10972800" cy="3556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88AF20-F728-29FF-8653-5D2E6D158A53}"/>
              </a:ext>
            </a:extLst>
          </p:cNvPr>
          <p:cNvSpPr txBox="1"/>
          <p:nvPr/>
        </p:nvSpPr>
        <p:spPr>
          <a:xfrm>
            <a:off x="812800" y="5816600"/>
            <a:ext cx="105664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rial" panose="020B0604020202020204" pitchFamily="34" charset="0"/>
              </a:rPr>
              <a:t>U8  Tamper-evident audit  /  State changes are attributable and linked in an integrity-checkable trail.</a:t>
            </a:r>
          </a:p>
        </p:txBody>
      </p:sp>
    </p:spTree>
    <p:extLst>
      <p:ext uri="{BB962C8B-B14F-4D97-AF65-F5344CB8AC3E}">
        <p14:creationId xmlns:p14="http://schemas.microsoft.com/office/powerpoint/2010/main" val="12475747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3B7592-9AA8-25DE-F0E6-18D817D417B4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05 / FEASIBILITY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697B4-3947-60C3-78D7-50DE11E30E04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A simple prototype stack; production adapters stay explicit.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B9A92E-FAB3-272F-2E3D-12AA9EB75814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The v1.0 plan prioritises a runnable vertical slice and honest simulator boundaries.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341749-B68D-B049-6DC5-1DD8944EA197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99377-5B78-7BA6-AE68-58B34E3E138E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4EE4C-EF2E-E51D-3853-6B28DBAFFCAF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4-Day Plan §§1.2–1.3; SRS §§3.1–3.6, Appendix 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60D89C-A731-E23A-023A-B48204E2B8AD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06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B0C682E-F322-F01A-5251-81C72F4C4D5E}"/>
              </a:ext>
            </a:extLst>
          </p:cNvPr>
          <p:cNvSpPr/>
          <p:nvPr/>
        </p:nvSpPr>
        <p:spPr>
          <a:xfrm>
            <a:off x="609600" y="1943100"/>
            <a:ext cx="10972800" cy="876300"/>
          </a:xfrm>
          <a:prstGeom prst="roundRect">
            <a:avLst/>
          </a:prstGeom>
          <a:solidFill>
            <a:srgbClr val="0B1F3A"/>
          </a:solidFill>
          <a:ln w="12700">
            <a:solidFill>
              <a:srgbClr val="0B1F3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38F4E5-1591-4495-7DF7-A9D55EF356F5}"/>
              </a:ext>
            </a:extLst>
          </p:cNvPr>
          <p:cNvSpPr txBox="1"/>
          <p:nvPr/>
        </p:nvSpPr>
        <p:spPr>
          <a:xfrm>
            <a:off x="863600" y="2095500"/>
            <a:ext cx="2159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C1D2E4"/>
                </a:solidFill>
                <a:latin typeface="Arial" panose="020B0604020202020204" pitchFamily="34" charset="0"/>
              </a:rPr>
              <a:t>PEOPLE &amp; WORKSPACES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35F073-3579-1113-35D0-52D4745B2D0A}"/>
              </a:ext>
            </a:extLst>
          </p:cNvPr>
          <p:cNvSpPr txBox="1"/>
          <p:nvPr/>
        </p:nvSpPr>
        <p:spPr>
          <a:xfrm>
            <a:off x="863600" y="2374899"/>
            <a:ext cx="102362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FFFFFF"/>
                </a:solidFill>
                <a:latin typeface="Arial" panose="020B0604020202020204" pitchFamily="34" charset="0"/>
              </a:rPr>
              <a:t>Institute  •  Officer  •  Bank  •  Release Authority  •  Finance  •  Public verifier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2BD472C-2751-416E-3A93-6DB931749C71}"/>
              </a:ext>
            </a:extLst>
          </p:cNvPr>
          <p:cNvSpPr/>
          <p:nvPr/>
        </p:nvSpPr>
        <p:spPr>
          <a:xfrm>
            <a:off x="609600" y="3086100"/>
            <a:ext cx="109728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9141BE-D934-5D11-4F2E-B4FF5F3AFCBF}"/>
              </a:ext>
            </a:extLst>
          </p:cNvPr>
          <p:cNvSpPr txBox="1"/>
          <p:nvPr/>
        </p:nvSpPr>
        <p:spPr>
          <a:xfrm>
            <a:off x="838200" y="323850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3A75B0"/>
                </a:solidFill>
                <a:latin typeface="Arial" panose="020B0604020202020204" pitchFamily="34" charset="0"/>
              </a:rPr>
              <a:t>WEB APP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8197F5-1EB7-4864-4C16-D7C32D8A0059}"/>
              </a:ext>
            </a:extLst>
          </p:cNvPr>
          <p:cNvSpPr txBox="1"/>
          <p:nvPr/>
        </p:nvSpPr>
        <p:spPr>
          <a:xfrm>
            <a:off x="838200" y="3543300"/>
            <a:ext cx="10350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92B3F"/>
                </a:solidFill>
                <a:latin typeface="Arial" panose="020B0604020202020204" pitchFamily="34" charset="0"/>
              </a:rPr>
              <a:t>React + TypeScript  /  Vite  /  role-aware routes  /  English + Hindi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553197A-BEE2-15DB-7389-2936E3522F60}"/>
              </a:ext>
            </a:extLst>
          </p:cNvPr>
          <p:cNvSpPr/>
          <p:nvPr/>
        </p:nvSpPr>
        <p:spPr>
          <a:xfrm>
            <a:off x="609600" y="4292600"/>
            <a:ext cx="109728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F41C16-48B1-A541-E399-32DCD3B6475A}"/>
              </a:ext>
            </a:extLst>
          </p:cNvPr>
          <p:cNvSpPr txBox="1"/>
          <p:nvPr/>
        </p:nvSpPr>
        <p:spPr>
          <a:xfrm>
            <a:off x="838200" y="4445000"/>
            <a:ext cx="1524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298F97"/>
                </a:solidFill>
                <a:latin typeface="Arial" panose="020B0604020202020204" pitchFamily="34" charset="0"/>
              </a:rPr>
              <a:t>API &amp; DOMAIN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073647-195A-BFC9-D9C1-14DA2E612B2C}"/>
              </a:ext>
            </a:extLst>
          </p:cNvPr>
          <p:cNvSpPr txBox="1"/>
          <p:nvPr/>
        </p:nvSpPr>
        <p:spPr>
          <a:xfrm>
            <a:off x="838200" y="4724400"/>
            <a:ext cx="103505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192B3F"/>
                </a:solidFill>
                <a:latin typeface="Arial" panose="020B0604020202020204" pitchFamily="34" charset="0"/>
              </a:rPr>
              <a:t>FastAPI modules: intake  •  bank  •  monitoring  •  release  •  insights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D95BE42-A83A-93B6-C38F-AF5907E59511}"/>
              </a:ext>
            </a:extLst>
          </p:cNvPr>
          <p:cNvSpPr txBox="1"/>
          <p:nvPr/>
        </p:nvSpPr>
        <p:spPr>
          <a:xfrm>
            <a:off x="838200" y="5003800"/>
            <a:ext cx="10350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5D6F83"/>
                </a:solidFill>
                <a:latin typeface="Arial" panose="020B0604020202020204" pitchFamily="34" charset="0"/>
              </a:rPr>
              <a:t>Role checks  /  state machines  /  policy  /  audit chain  /  API contracts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901E16C-CE1A-0CCA-51A7-5557FCCA1DF1}"/>
              </a:ext>
            </a:extLst>
          </p:cNvPr>
          <p:cNvSpPr/>
          <p:nvPr/>
        </p:nvSpPr>
        <p:spPr>
          <a:xfrm>
            <a:off x="609600" y="5575300"/>
            <a:ext cx="5334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900D3A-F0F7-6EA3-83B6-39E7D4836FED}"/>
              </a:ext>
            </a:extLst>
          </p:cNvPr>
          <p:cNvSpPr txBox="1"/>
          <p:nvPr/>
        </p:nvSpPr>
        <p:spPr>
          <a:xfrm>
            <a:off x="774700" y="5715000"/>
            <a:ext cx="5016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192B3F"/>
                </a:solidFill>
                <a:latin typeface="Arial" panose="020B0604020202020204" pitchFamily="34" charset="0"/>
              </a:rPr>
              <a:t>Prototype: SQLite  /  local files  /  in-process jobs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D6BF186-CD0F-2D7D-3F49-D5DE76E265B2}"/>
              </a:ext>
            </a:extLst>
          </p:cNvPr>
          <p:cNvSpPr/>
          <p:nvPr/>
        </p:nvSpPr>
        <p:spPr>
          <a:xfrm>
            <a:off x="6248400" y="5575300"/>
            <a:ext cx="53340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73E4D3-BF23-E09C-16CD-781468D335E5}"/>
              </a:ext>
            </a:extLst>
          </p:cNvPr>
          <p:cNvSpPr txBox="1"/>
          <p:nvPr/>
        </p:nvSpPr>
        <p:spPr>
          <a:xfrm>
            <a:off x="6413500" y="5715000"/>
            <a:ext cx="50165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192B3F"/>
                </a:solidFill>
                <a:latin typeface="Arial" panose="020B0604020202020204" pitchFamily="34" charset="0"/>
              </a:rPr>
              <a:t>Adapters: portal bank  /  simulated signer  /  local IdP</a:t>
            </a:r>
          </a:p>
        </p:txBody>
      </p:sp>
    </p:spTree>
    <p:extLst>
      <p:ext uri="{BB962C8B-B14F-4D97-AF65-F5344CB8AC3E}">
        <p14:creationId xmlns:p14="http://schemas.microsoft.com/office/powerpoint/2010/main" val="3875793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DDA8FA-1DE8-1B79-5169-9FE9108FCA87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06 / DEMO STORY 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1C89FF-987A-7317-A801-8AFE76BF5634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From an institute claim to evidence-backed activation.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E1D6E4-EB6B-8BE4-A54E-D1273385939B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Planned walkthrough: submission, explainable flags, direct bank confirmation and role separation.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95F11A5-331F-B6BE-E8AD-621C7E08DD49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C63541-027A-0729-008A-DAA67DB73CCC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C163C8-1C09-742A-35FF-CC8B9552EE61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4-Day Plan §1.1 G1–G8; SRS E2E-02, 03, 08, 09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EAA8F0-C0D9-F950-7B2A-761D3D119E36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07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B65882-95BF-88BD-0BD7-D7D2BB7C9580}"/>
              </a:ext>
            </a:extLst>
          </p:cNvPr>
          <p:cNvSpPr/>
          <p:nvPr/>
        </p:nvSpPr>
        <p:spPr>
          <a:xfrm>
            <a:off x="609600" y="2451100"/>
            <a:ext cx="2413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42EEB-D8A2-9B5C-CF51-518A34FA0E04}"/>
              </a:ext>
            </a:extLst>
          </p:cNvPr>
          <p:cNvSpPr txBox="1"/>
          <p:nvPr/>
        </p:nvSpPr>
        <p:spPr>
          <a:xfrm>
            <a:off x="812800" y="2667000"/>
            <a:ext cx="203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3A75B0"/>
                </a:solidFill>
                <a:latin typeface="Arial" panose="020B0604020202020204" pitchFamily="34" charset="0"/>
              </a:rPr>
              <a:t>01  INSTITUTE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BC6653-8CBA-7A55-7B43-B4299CD9129D}"/>
              </a:ext>
            </a:extLst>
          </p:cNvPr>
          <p:cNvSpPr txBox="1"/>
          <p:nvPr/>
        </p:nvSpPr>
        <p:spPr>
          <a:xfrm>
            <a:off x="812800" y="3047999"/>
            <a:ext cx="203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Submit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1A06A85-63AB-E836-5EC0-05B0790237B3}"/>
              </a:ext>
            </a:extLst>
          </p:cNvPr>
          <p:cNvSpPr txBox="1"/>
          <p:nvPr/>
        </p:nvSpPr>
        <p:spPr>
          <a:xfrm>
            <a:off x="812800" y="3619499"/>
            <a:ext cx="2006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Upload genuine FDR
Review extracted fields
Submit as L0 claim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D214FE-5D00-B54D-70A7-97E6BC605D07}"/>
              </a:ext>
            </a:extLst>
          </p:cNvPr>
          <p:cNvSpPr/>
          <p:nvPr/>
        </p:nvSpPr>
        <p:spPr>
          <a:xfrm>
            <a:off x="3416300" y="2451100"/>
            <a:ext cx="2413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8041ED-36D7-7E1C-0DF7-3C910D208FF6}"/>
              </a:ext>
            </a:extLst>
          </p:cNvPr>
          <p:cNvSpPr txBox="1"/>
          <p:nvPr/>
        </p:nvSpPr>
        <p:spPr>
          <a:xfrm>
            <a:off x="3619500" y="2667000"/>
            <a:ext cx="203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EC9D2A"/>
                </a:solidFill>
                <a:latin typeface="Arial" panose="020B0604020202020204" pitchFamily="34" charset="0"/>
              </a:rPr>
              <a:t>02  CHECKS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7B73704-0EA5-B0FC-4CA3-79C0CC9C6D68}"/>
              </a:ext>
            </a:extLst>
          </p:cNvPr>
          <p:cNvSpPr txBox="1"/>
          <p:nvPr/>
        </p:nvSpPr>
        <p:spPr>
          <a:xfrm>
            <a:off x="3619500" y="3047999"/>
            <a:ext cx="203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Inspect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400DEC-16E2-017F-A7CE-16FD3F1E0EFE}"/>
              </a:ext>
            </a:extLst>
          </p:cNvPr>
          <p:cNvSpPr txBox="1"/>
          <p:nvPr/>
        </p:nvSpPr>
        <p:spPr>
          <a:xfrm>
            <a:off x="3619500" y="3619499"/>
            <a:ext cx="2006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Show plain-language flags
Compare document fields
Flags are not decisions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021B09E-AB6A-5604-4D48-F973BEDAEDBC}"/>
              </a:ext>
            </a:extLst>
          </p:cNvPr>
          <p:cNvSpPr/>
          <p:nvPr/>
        </p:nvSpPr>
        <p:spPr>
          <a:xfrm>
            <a:off x="6223000" y="2451100"/>
            <a:ext cx="2413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D4D709-2A06-3C54-4786-0D3E45074DAD}"/>
              </a:ext>
            </a:extLst>
          </p:cNvPr>
          <p:cNvSpPr txBox="1"/>
          <p:nvPr/>
        </p:nvSpPr>
        <p:spPr>
          <a:xfrm>
            <a:off x="6426200" y="2667000"/>
            <a:ext cx="203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298F97"/>
                </a:solidFill>
                <a:latin typeface="Arial" panose="020B0604020202020204" pitchFamily="34" charset="0"/>
              </a:rPr>
              <a:t>03  BANK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F8F96-76BA-63FE-F799-B5A8479D3C60}"/>
              </a:ext>
            </a:extLst>
          </p:cNvPr>
          <p:cNvSpPr txBox="1"/>
          <p:nvPr/>
        </p:nvSpPr>
        <p:spPr>
          <a:xfrm>
            <a:off x="6426200" y="3047999"/>
            <a:ext cx="203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Confirm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19870-A745-E0DF-AC84-1F7267ABCE13}"/>
              </a:ext>
            </a:extLst>
          </p:cNvPr>
          <p:cNvSpPr txBox="1"/>
          <p:nvPr/>
        </p:nvSpPr>
        <p:spPr>
          <a:xfrm>
            <a:off x="6426200" y="3619499"/>
            <a:ext cx="2006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Use verified directory
Maker + checker review
Critical fields move to L2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620F894F-7308-BB6A-73EB-0739E771F354}"/>
              </a:ext>
            </a:extLst>
          </p:cNvPr>
          <p:cNvSpPr/>
          <p:nvPr/>
        </p:nvSpPr>
        <p:spPr>
          <a:xfrm>
            <a:off x="9029700" y="2451100"/>
            <a:ext cx="2413000" cy="260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E788FE-967E-AC38-9131-EC09BDAC669C}"/>
              </a:ext>
            </a:extLst>
          </p:cNvPr>
          <p:cNvSpPr txBox="1"/>
          <p:nvPr/>
        </p:nvSpPr>
        <p:spPr>
          <a:xfrm>
            <a:off x="9232900" y="2667000"/>
            <a:ext cx="203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208462"/>
                </a:solidFill>
                <a:latin typeface="Arial" panose="020B0604020202020204" pitchFamily="34" charset="0"/>
              </a:rPr>
              <a:t>04  OFFICER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6F3263-AB73-96EE-3CE8-6EF6B246EDF7}"/>
              </a:ext>
            </a:extLst>
          </p:cNvPr>
          <p:cNvSpPr txBox="1"/>
          <p:nvPr/>
        </p:nvSpPr>
        <p:spPr>
          <a:xfrm>
            <a:off x="9232900" y="3047999"/>
            <a:ext cx="20320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Activate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70111D-7C78-4D98-3CB5-E0DBB2B67F4B}"/>
              </a:ext>
            </a:extLst>
          </p:cNvPr>
          <p:cNvSpPr txBox="1"/>
          <p:nvPr/>
        </p:nvSpPr>
        <p:spPr>
          <a:xfrm>
            <a:off x="9232900" y="3619499"/>
            <a:ext cx="2006600" cy="1117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Show SoD rejection
Use a different approver
Activate after checks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BF43A0-20EE-DE04-A51C-72A12EA3C0BA}"/>
              </a:ext>
            </a:extLst>
          </p:cNvPr>
          <p:cNvSpPr txBox="1"/>
          <p:nvPr/>
        </p:nvSpPr>
        <p:spPr>
          <a:xfrm>
            <a:off x="609600" y="5422899"/>
            <a:ext cx="1092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>
                <a:solidFill>
                  <a:srgbClr val="5D6F83"/>
                </a:solidFill>
                <a:latin typeface="Arial" panose="020B0604020202020204" pitchFamily="34" charset="0"/>
              </a:rPr>
              <a:t>Demo truth: seed data and backend availability determine which transitions can be shown live.</a:t>
            </a:r>
          </a:p>
        </p:txBody>
      </p:sp>
    </p:spTree>
    <p:extLst>
      <p:ext uri="{BB962C8B-B14F-4D97-AF65-F5344CB8AC3E}">
        <p14:creationId xmlns:p14="http://schemas.microsoft.com/office/powerpoint/2010/main" val="3571799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3F6FCC3-EFBC-8224-2E53-7DE7A6C1FD14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07 / DEMO STORY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C8FE9-1716-13B4-BCBA-E3BB623558D3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A release is not complete when a letter is signed.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4D5A31-8882-BC09-90D6-4CF0493A067A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Show the independent checks from eligibility to final AICTE-share settlement.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2DA954-988F-3D38-5F8E-1133694EA472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569E78-F95B-5DE0-12F3-BBC069C13F4C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C3A3F18-CD14-CBF4-123F-04749D9E006A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4-Day Plan §1.1 G9–G12; SRS E2E-13…17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0DFC881-6D2A-D064-1C8D-440A29A2F7F0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08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646A43-1C40-00B9-81F6-C612494B4E54}"/>
              </a:ext>
            </a:extLst>
          </p:cNvPr>
          <p:cNvSpPr/>
          <p:nvPr/>
        </p:nvSpPr>
        <p:spPr>
          <a:xfrm>
            <a:off x="609600" y="2413000"/>
            <a:ext cx="2413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AB9D74-758A-5B0D-5060-3F688063D7CA}"/>
              </a:ext>
            </a:extLst>
          </p:cNvPr>
          <p:cNvSpPr/>
          <p:nvPr/>
        </p:nvSpPr>
        <p:spPr>
          <a:xfrm>
            <a:off x="609600" y="2413000"/>
            <a:ext cx="2413000" cy="762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11F181-6A2D-3700-2180-BF8C94A2685C}"/>
              </a:ext>
            </a:extLst>
          </p:cNvPr>
          <p:cNvSpPr txBox="1"/>
          <p:nvPr/>
        </p:nvSpPr>
        <p:spPr>
          <a:xfrm>
            <a:off x="812800" y="2768599"/>
            <a:ext cx="200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Eligibility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BDD4E8-8EF6-BF20-DCF4-B6F29A1C9457}"/>
              </a:ext>
            </a:extLst>
          </p:cNvPr>
          <p:cNvSpPr txBox="1"/>
          <p:nvPr/>
        </p:nvSpPr>
        <p:spPr>
          <a:xfrm>
            <a:off x="812800" y="3365499"/>
            <a:ext cx="20066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Hold blocks release
Show reason + fix hint
Lift hold; AO recommends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9F4407-33ED-122B-83CC-BEB48B05E80F}"/>
              </a:ext>
            </a:extLst>
          </p:cNvPr>
          <p:cNvSpPr/>
          <p:nvPr/>
        </p:nvSpPr>
        <p:spPr>
          <a:xfrm>
            <a:off x="3416300" y="2413000"/>
            <a:ext cx="2413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3EA6B0-33C3-7A53-8AFC-3B55A4B99753}"/>
              </a:ext>
            </a:extLst>
          </p:cNvPr>
          <p:cNvSpPr/>
          <p:nvPr/>
        </p:nvSpPr>
        <p:spPr>
          <a:xfrm>
            <a:off x="3416300" y="2413000"/>
            <a:ext cx="2413000" cy="762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2D6DB2-0C03-DF8F-5F0C-210934504B03}"/>
              </a:ext>
            </a:extLst>
          </p:cNvPr>
          <p:cNvSpPr txBox="1"/>
          <p:nvPr/>
        </p:nvSpPr>
        <p:spPr>
          <a:xfrm>
            <a:off x="3619500" y="2768599"/>
            <a:ext cx="200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Signed letter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895D33-F7AC-A412-0442-70BAD3F1BF7E}"/>
              </a:ext>
            </a:extLst>
          </p:cNvPr>
          <p:cNvSpPr txBox="1"/>
          <p:nvPr/>
        </p:nvSpPr>
        <p:spPr>
          <a:xfrm>
            <a:off x="3619500" y="3365499"/>
            <a:ext cx="20066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RA completes step-up
PDF carries QR + hash
14-day validity per spec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31ECDC4-CBD8-8C0A-3560-2BE4B32DA65B}"/>
              </a:ext>
            </a:extLst>
          </p:cNvPr>
          <p:cNvSpPr/>
          <p:nvPr/>
        </p:nvSpPr>
        <p:spPr>
          <a:xfrm>
            <a:off x="6223000" y="2413000"/>
            <a:ext cx="2413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D7856C-84F2-8273-E4F1-C4337C6D2A7A}"/>
              </a:ext>
            </a:extLst>
          </p:cNvPr>
          <p:cNvSpPr/>
          <p:nvPr/>
        </p:nvSpPr>
        <p:spPr>
          <a:xfrm>
            <a:off x="6223000" y="2413000"/>
            <a:ext cx="2413000" cy="762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C1DA7F-2D48-B4B6-B566-0C7E50AD88FF}"/>
              </a:ext>
            </a:extLst>
          </p:cNvPr>
          <p:cNvSpPr txBox="1"/>
          <p:nvPr/>
        </p:nvSpPr>
        <p:spPr>
          <a:xfrm>
            <a:off x="6426200" y="2768599"/>
            <a:ext cx="200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Bank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62517D-5E6A-2016-E65D-8CB167404C4D}"/>
              </a:ext>
            </a:extLst>
          </p:cNvPr>
          <p:cNvSpPr txBox="1"/>
          <p:nvPr/>
        </p:nvSpPr>
        <p:spPr>
          <a:xfrm>
            <a:off x="6426200" y="3365499"/>
            <a:ext cx="20066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Public status check
Maker / checker record UTR
Replay is rejected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B887E75-A7E3-76C8-2DAF-5D35CB938375}"/>
              </a:ext>
            </a:extLst>
          </p:cNvPr>
          <p:cNvSpPr/>
          <p:nvPr/>
        </p:nvSpPr>
        <p:spPr>
          <a:xfrm>
            <a:off x="9029700" y="2413000"/>
            <a:ext cx="2413000" cy="248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EBDE2DE-EA80-EB01-F469-DEBBB6717E37}"/>
              </a:ext>
            </a:extLst>
          </p:cNvPr>
          <p:cNvSpPr/>
          <p:nvPr/>
        </p:nvSpPr>
        <p:spPr>
          <a:xfrm>
            <a:off x="9029700" y="2413000"/>
            <a:ext cx="2413000" cy="762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81EBA5-CDC8-BE3D-E8EB-C25D5C84191D}"/>
              </a:ext>
            </a:extLst>
          </p:cNvPr>
          <p:cNvSpPr txBox="1"/>
          <p:nvPr/>
        </p:nvSpPr>
        <p:spPr>
          <a:xfrm>
            <a:off x="9232900" y="2768599"/>
            <a:ext cx="20066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500" b="1">
                <a:solidFill>
                  <a:srgbClr val="0B1F3A"/>
                </a:solidFill>
                <a:latin typeface="Arial" panose="020B0604020202020204" pitchFamily="34" charset="0"/>
              </a:rPr>
              <a:t>Finance + audit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9F12307-F7DA-649E-6953-2921955A10A4}"/>
              </a:ext>
            </a:extLst>
          </p:cNvPr>
          <p:cNvSpPr txBox="1"/>
          <p:nvPr/>
        </p:nvSpPr>
        <p:spPr>
          <a:xfrm>
            <a:off x="9232900" y="3365499"/>
            <a:ext cx="2006600" cy="1193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Confirm AICTE share
Mismatch needs a reason
Close; verify audit chain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65A8637-9155-133C-591E-4FEE28C59771}"/>
              </a:ext>
            </a:extLst>
          </p:cNvPr>
          <p:cNvSpPr txBox="1"/>
          <p:nvPr/>
        </p:nvSpPr>
        <p:spPr>
          <a:xfrm>
            <a:off x="609600" y="5283199"/>
            <a:ext cx="109220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A signed release is verifiable, single-use and revocable by design (per SRS); do not claim a live bank transfer.</a:t>
            </a:r>
          </a:p>
        </p:txBody>
      </p:sp>
    </p:spTree>
    <p:extLst>
      <p:ext uri="{BB962C8B-B14F-4D97-AF65-F5344CB8AC3E}">
        <p14:creationId xmlns:p14="http://schemas.microsoft.com/office/powerpoint/2010/main" val="272180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0B1B80-7229-36DE-0EA1-ABE060FAE585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08 / IMPACT MEASUREMENT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3F22B0-9474-A2C7-ABD3-B5E3CF432E80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Measure outcomes; do not invent a baseline.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3FD774-0801-71D6-5B4A-508CFA950700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The project defines what to measure. No before/after improvement is claimed in this deck.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C156D3-0A21-63AA-AD4B-440AD6EFA94D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CE0504-DADA-DBAB-CBA1-AC15EE2D570C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2A666-F197-5066-E7DF-05426BFF0784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SRS T-202; §9.1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0CE79B-11DF-FC67-2437-7172ADBE57BE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09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D92E71C-CCF2-B6E6-B07C-9551A372199E}"/>
              </a:ext>
            </a:extLst>
          </p:cNvPr>
          <p:cNvSpPr/>
          <p:nvPr/>
        </p:nvSpPr>
        <p:spPr>
          <a:xfrm>
            <a:off x="609600" y="1879600"/>
            <a:ext cx="10972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D7FA68-B7A5-FBE6-2CF7-90DE532744AE}"/>
              </a:ext>
            </a:extLst>
          </p:cNvPr>
          <p:cNvSpPr txBox="1"/>
          <p:nvPr/>
        </p:nvSpPr>
        <p:spPr>
          <a:xfrm>
            <a:off x="787400" y="1993900"/>
            <a:ext cx="2413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Record accuracy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0FD6F3-E535-2628-C64D-4ADC857DBDB5}"/>
              </a:ext>
            </a:extLst>
          </p:cNvPr>
          <p:cNvSpPr txBox="1"/>
          <p:nvPr/>
        </p:nvSpPr>
        <p:spPr>
          <a:xfrm>
            <a:off x="3200400" y="1981199"/>
            <a:ext cx="5651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Instruments with L2 on every critical field / eligible instruments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16DDD63-DC2B-7F7A-42F7-425A057C9FC1}"/>
              </a:ext>
            </a:extLst>
          </p:cNvPr>
          <p:cNvSpPr/>
          <p:nvPr/>
        </p:nvSpPr>
        <p:spPr>
          <a:xfrm>
            <a:off x="9080500" y="2057400"/>
            <a:ext cx="22860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E6F75F8-EFD7-1BDD-424F-F99B0B933026}"/>
              </a:ext>
            </a:extLst>
          </p:cNvPr>
          <p:cNvSpPr txBox="1"/>
          <p:nvPr/>
        </p:nvSpPr>
        <p:spPr>
          <a:xfrm>
            <a:off x="9080500" y="2120900"/>
            <a:ext cx="2286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MEASURED FROM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9A8052B-3ABF-7097-2F49-CA96AB6EDC46}"/>
              </a:ext>
            </a:extLst>
          </p:cNvPr>
          <p:cNvSpPr/>
          <p:nvPr/>
        </p:nvSpPr>
        <p:spPr>
          <a:xfrm>
            <a:off x="609600" y="2679700"/>
            <a:ext cx="10972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E6280A1-8993-EDF7-0635-E90E1D406FEA}"/>
              </a:ext>
            </a:extLst>
          </p:cNvPr>
          <p:cNvSpPr txBox="1"/>
          <p:nvPr/>
        </p:nvSpPr>
        <p:spPr>
          <a:xfrm>
            <a:off x="787400" y="2794000"/>
            <a:ext cx="2413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Verification turnaround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9943D2-56AE-6B3C-C811-0F4B2F3AAF7A}"/>
              </a:ext>
            </a:extLst>
          </p:cNvPr>
          <p:cNvSpPr txBox="1"/>
          <p:nvPr/>
        </p:nvSpPr>
        <p:spPr>
          <a:xfrm>
            <a:off x="3200400" y="2781299"/>
            <a:ext cx="5651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Submit → bank-confirmed median and p90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EB0FB12-7EFD-BE4F-3C43-E75B0887722C}"/>
              </a:ext>
            </a:extLst>
          </p:cNvPr>
          <p:cNvSpPr/>
          <p:nvPr/>
        </p:nvSpPr>
        <p:spPr>
          <a:xfrm>
            <a:off x="9080500" y="2857500"/>
            <a:ext cx="22860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5218E8D-9D77-423E-CF43-282EA75E35B8}"/>
              </a:ext>
            </a:extLst>
          </p:cNvPr>
          <p:cNvSpPr txBox="1"/>
          <p:nvPr/>
        </p:nvSpPr>
        <p:spPr>
          <a:xfrm>
            <a:off x="9080500" y="2921000"/>
            <a:ext cx="2286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MEASURED FROM TIMESTAMPS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9A92318-ABB5-50B4-DACD-0B24B57C6F71}"/>
              </a:ext>
            </a:extLst>
          </p:cNvPr>
          <p:cNvSpPr/>
          <p:nvPr/>
        </p:nvSpPr>
        <p:spPr>
          <a:xfrm>
            <a:off x="609600" y="3479800"/>
            <a:ext cx="10972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00E784-6336-766D-7CAE-823EF215704E}"/>
              </a:ext>
            </a:extLst>
          </p:cNvPr>
          <p:cNvSpPr txBox="1"/>
          <p:nvPr/>
        </p:nvSpPr>
        <p:spPr>
          <a:xfrm>
            <a:off x="787400" y="3594100"/>
            <a:ext cx="2413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Timely renewals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058439-40C7-D66C-00C2-0B7A3EA6ACA2}"/>
              </a:ext>
            </a:extLst>
          </p:cNvPr>
          <p:cNvSpPr txBox="1"/>
          <p:nvPr/>
        </p:nvSpPr>
        <p:spPr>
          <a:xfrm>
            <a:off x="3200400" y="3581399"/>
            <a:ext cx="5651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Renewals accepted before maturity / renewals due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768AB3C-12BD-0C14-58E1-C21FF5E1DC03}"/>
              </a:ext>
            </a:extLst>
          </p:cNvPr>
          <p:cNvSpPr/>
          <p:nvPr/>
        </p:nvSpPr>
        <p:spPr>
          <a:xfrm>
            <a:off x="9080500" y="3657600"/>
            <a:ext cx="22860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6EC506-C5C5-99AC-A6EA-DD346715D5EE}"/>
              </a:ext>
            </a:extLst>
          </p:cNvPr>
          <p:cNvSpPr txBox="1"/>
          <p:nvPr/>
        </p:nvSpPr>
        <p:spPr>
          <a:xfrm>
            <a:off x="9080500" y="3721100"/>
            <a:ext cx="2286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MEASURED FROM CASES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D0DB39E-7A1A-5453-8BC1-0CB4009FCD25}"/>
              </a:ext>
            </a:extLst>
          </p:cNvPr>
          <p:cNvSpPr/>
          <p:nvPr/>
        </p:nvSpPr>
        <p:spPr>
          <a:xfrm>
            <a:off x="609600" y="4279900"/>
            <a:ext cx="10972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FE83AE-4DF3-9509-0C99-C68B960977A9}"/>
              </a:ext>
            </a:extLst>
          </p:cNvPr>
          <p:cNvSpPr txBox="1"/>
          <p:nvPr/>
        </p:nvSpPr>
        <p:spPr>
          <a:xfrm>
            <a:off x="787400" y="4394200"/>
            <a:ext cx="2413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Manual effort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DAC93D4-6646-36CE-458C-CC298EFA022E}"/>
              </a:ext>
            </a:extLst>
          </p:cNvPr>
          <p:cNvSpPr txBox="1"/>
          <p:nvPr/>
        </p:nvSpPr>
        <p:spPr>
          <a:xfrm>
            <a:off x="3200400" y="4381499"/>
            <a:ext cx="5651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Automated actions counted; officer touch time estimated from audit events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F423924-A493-C9BC-0FAB-4B53605A99D2}"/>
              </a:ext>
            </a:extLst>
          </p:cNvPr>
          <p:cNvSpPr/>
          <p:nvPr/>
        </p:nvSpPr>
        <p:spPr>
          <a:xfrm>
            <a:off x="9080500" y="4457700"/>
            <a:ext cx="22860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4A5F36-95BB-B540-6CB2-042B361EF799}"/>
              </a:ext>
            </a:extLst>
          </p:cNvPr>
          <p:cNvSpPr txBox="1"/>
          <p:nvPr/>
        </p:nvSpPr>
        <p:spPr>
          <a:xfrm>
            <a:off x="9080500" y="4521200"/>
            <a:ext cx="2286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ESTIMATE; BASELINE SOURCE REQUIRED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D8B98E9-58E0-845B-7892-85807F39B89F}"/>
              </a:ext>
            </a:extLst>
          </p:cNvPr>
          <p:cNvSpPr/>
          <p:nvPr/>
        </p:nvSpPr>
        <p:spPr>
          <a:xfrm>
            <a:off x="609600" y="5080000"/>
            <a:ext cx="10972800" cy="66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2DE34C1-2248-7454-682D-24DB325EAD38}"/>
              </a:ext>
            </a:extLst>
          </p:cNvPr>
          <p:cNvSpPr txBox="1"/>
          <p:nvPr/>
        </p:nvSpPr>
        <p:spPr>
          <a:xfrm>
            <a:off x="787400" y="5194300"/>
            <a:ext cx="2413000" cy="2413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Fraud-catch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AB65FE5-6C06-8C25-49B9-D5ED98B33F7F}"/>
              </a:ext>
            </a:extLst>
          </p:cNvPr>
          <p:cNvSpPr txBox="1"/>
          <p:nvPr/>
        </p:nvSpPr>
        <p:spPr>
          <a:xfrm>
            <a:off x="3200400" y="5181599"/>
            <a:ext cx="5651500" cy="457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Precision / recall on labelled synthetic corpus only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689058F-D298-9BB2-6386-72CAA7F2EEC6}"/>
              </a:ext>
            </a:extLst>
          </p:cNvPr>
          <p:cNvSpPr/>
          <p:nvPr/>
        </p:nvSpPr>
        <p:spPr>
          <a:xfrm>
            <a:off x="9080500" y="5257800"/>
            <a:ext cx="2286000" cy="317500"/>
          </a:xfrm>
          <a:prstGeom prst="roundRect">
            <a:avLst/>
          </a:prstGeom>
          <a:solidFill>
            <a:srgbClr val="143152"/>
          </a:solidFill>
          <a:ln w="12700">
            <a:solidFill>
              <a:srgbClr val="1431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836713-0CBB-0F00-79FA-BF5A525CA07E}"/>
              </a:ext>
            </a:extLst>
          </p:cNvPr>
          <p:cNvSpPr txBox="1"/>
          <p:nvPr/>
        </p:nvSpPr>
        <p:spPr>
          <a:xfrm>
            <a:off x="9080500" y="5321300"/>
            <a:ext cx="2286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rial" panose="020B0604020202020204" pitchFamily="34" charset="0"/>
              </a:rPr>
              <a:t>SYNTHETIC; NOT FIELD ACCURACY</a:t>
            </a:r>
          </a:p>
        </p:txBody>
      </p:sp>
    </p:spTree>
    <p:extLst>
      <p:ext uri="{BB962C8B-B14F-4D97-AF65-F5344CB8AC3E}">
        <p14:creationId xmlns:p14="http://schemas.microsoft.com/office/powerpoint/2010/main" val="28826653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9B747E5-023F-9577-21B7-CFF9D29E956D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09 / JUDGE CHECKLIST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64EEE3-D80B-05B5-48CF-8F063C1F9561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Ten expected capabilities, mapped to visible evidence.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22E73E-7051-BC57-E1AB-3F7C7643BE5F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Use this as a review checklist; feature availability and live API state vary by module.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35DA1B-D0D3-66AE-039F-D95145A3E75B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6A077C-7AD1-32BC-C227-5BA5702854E6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49031-836B-9A3B-FE16-A356C8540D65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SRS §9.1; capability names condensed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51EF5D-E7DD-5255-4CD2-8A9F51C4F2CE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10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7424B78-50F1-908F-D58F-324066CBE505}"/>
              </a:ext>
            </a:extLst>
          </p:cNvPr>
          <p:cNvSpPr/>
          <p:nvPr/>
        </p:nvSpPr>
        <p:spPr>
          <a:xfrm>
            <a:off x="609600" y="18415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0FEEC2E-91B0-88AF-6C9A-5882F39FFCA5}"/>
              </a:ext>
            </a:extLst>
          </p:cNvPr>
          <p:cNvSpPr/>
          <p:nvPr/>
        </p:nvSpPr>
        <p:spPr>
          <a:xfrm>
            <a:off x="609600" y="1841500"/>
            <a:ext cx="63500" cy="6985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557FC1-6932-943B-DBCA-13A26B91ABE9}"/>
              </a:ext>
            </a:extLst>
          </p:cNvPr>
          <p:cNvSpPr txBox="1"/>
          <p:nvPr/>
        </p:nvSpPr>
        <p:spPr>
          <a:xfrm>
            <a:off x="800100" y="19304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01  Repository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EEA874-7B6C-6869-F136-83531EC3EBDB}"/>
              </a:ext>
            </a:extLst>
          </p:cNvPr>
          <p:cNvSpPr txBox="1"/>
          <p:nvPr/>
        </p:nvSpPr>
        <p:spPr>
          <a:xfrm>
            <a:off x="800100" y="22098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Institute obligations + FDR register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98A01690-3C93-25ED-FBC3-D9F80A5B1E52}"/>
              </a:ext>
            </a:extLst>
          </p:cNvPr>
          <p:cNvSpPr/>
          <p:nvPr/>
        </p:nvSpPr>
        <p:spPr>
          <a:xfrm>
            <a:off x="6248400" y="18415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D592CA4-354C-BB9A-8696-0105DF835452}"/>
              </a:ext>
            </a:extLst>
          </p:cNvPr>
          <p:cNvSpPr/>
          <p:nvPr/>
        </p:nvSpPr>
        <p:spPr>
          <a:xfrm>
            <a:off x="6248400" y="1841500"/>
            <a:ext cx="63500" cy="6985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0FEA35-C9CC-9488-9230-DFA28E8DBB4D}"/>
              </a:ext>
            </a:extLst>
          </p:cNvPr>
          <p:cNvSpPr txBox="1"/>
          <p:nvPr/>
        </p:nvSpPr>
        <p:spPr>
          <a:xfrm>
            <a:off x="6438900" y="19304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02  Documents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FAC5BF-0826-C517-181A-5C396165BBE3}"/>
              </a:ext>
            </a:extLst>
          </p:cNvPr>
          <p:cNvSpPr txBox="1"/>
          <p:nvPr/>
        </p:nvSpPr>
        <p:spPr>
          <a:xfrm>
            <a:off x="6438900" y="22098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FDR upload, preview + records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98BEB08-E21C-D8FC-5E19-F653E36EC0A1}"/>
              </a:ext>
            </a:extLst>
          </p:cNvPr>
          <p:cNvSpPr/>
          <p:nvPr/>
        </p:nvSpPr>
        <p:spPr>
          <a:xfrm>
            <a:off x="609600" y="26924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EF3AF4-3D38-B04D-BBD0-9271CF83CFE2}"/>
              </a:ext>
            </a:extLst>
          </p:cNvPr>
          <p:cNvSpPr/>
          <p:nvPr/>
        </p:nvSpPr>
        <p:spPr>
          <a:xfrm>
            <a:off x="609600" y="2692400"/>
            <a:ext cx="63500" cy="6985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858E7-93D8-614E-98F3-F283BD8FBDAA}"/>
              </a:ext>
            </a:extLst>
          </p:cNvPr>
          <p:cNvSpPr txBox="1"/>
          <p:nvPr/>
        </p:nvSpPr>
        <p:spPr>
          <a:xfrm>
            <a:off x="800100" y="27813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03  Verification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086A72-169F-A85D-7E62-C376C9AD9906}"/>
              </a:ext>
            </a:extLst>
          </p:cNvPr>
          <p:cNvSpPr txBox="1"/>
          <p:nvPr/>
        </p:nvSpPr>
        <p:spPr>
          <a:xfrm>
            <a:off x="800100" y="30607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Bank confirmation + discrepancy flags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9A201DA3-4A1E-99D8-ED9C-8591BEB2B10E}"/>
              </a:ext>
            </a:extLst>
          </p:cNvPr>
          <p:cNvSpPr/>
          <p:nvPr/>
        </p:nvSpPr>
        <p:spPr>
          <a:xfrm>
            <a:off x="6248400" y="26924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985DBB5-4554-51A0-BDE1-831131C35B63}"/>
              </a:ext>
            </a:extLst>
          </p:cNvPr>
          <p:cNvSpPr/>
          <p:nvPr/>
        </p:nvSpPr>
        <p:spPr>
          <a:xfrm>
            <a:off x="6248400" y="2692400"/>
            <a:ext cx="63500" cy="6985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BE7276-D4FF-B8C0-FE8B-F42D796676DE}"/>
              </a:ext>
            </a:extLst>
          </p:cNvPr>
          <p:cNvSpPr txBox="1"/>
          <p:nvPr/>
        </p:nvSpPr>
        <p:spPr>
          <a:xfrm>
            <a:off x="6438900" y="27813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04  Validity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34501A3-3CA2-2CCA-631B-66F048B740CA}"/>
              </a:ext>
            </a:extLst>
          </p:cNvPr>
          <p:cNvSpPr txBox="1"/>
          <p:nvPr/>
        </p:nvSpPr>
        <p:spPr>
          <a:xfrm>
            <a:off x="6438900" y="30607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Maturity windows + alerts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64BD642-0B4C-4B60-3282-2C1F4FE1294E}"/>
              </a:ext>
            </a:extLst>
          </p:cNvPr>
          <p:cNvSpPr/>
          <p:nvPr/>
        </p:nvSpPr>
        <p:spPr>
          <a:xfrm>
            <a:off x="609600" y="35433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0138BE1-66E7-7881-7240-9FE79FC66513}"/>
              </a:ext>
            </a:extLst>
          </p:cNvPr>
          <p:cNvSpPr/>
          <p:nvPr/>
        </p:nvSpPr>
        <p:spPr>
          <a:xfrm>
            <a:off x="609600" y="3543300"/>
            <a:ext cx="63500" cy="6985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3536F26-A498-51A8-4915-6277107DCFD6}"/>
              </a:ext>
            </a:extLst>
          </p:cNvPr>
          <p:cNvSpPr txBox="1"/>
          <p:nvPr/>
        </p:nvSpPr>
        <p:spPr>
          <a:xfrm>
            <a:off x="800100" y="36322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05  Renewal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75E488E-72E9-0EEE-CE23-4B7EB34924ED}"/>
              </a:ext>
            </a:extLst>
          </p:cNvPr>
          <p:cNvSpPr txBox="1"/>
          <p:nvPr/>
        </p:nvSpPr>
        <p:spPr>
          <a:xfrm>
            <a:off x="800100" y="39116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Renewal and replacement tracking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CD15D9B-BAF1-029D-4D2D-0E20D05019A9}"/>
              </a:ext>
            </a:extLst>
          </p:cNvPr>
          <p:cNvSpPr/>
          <p:nvPr/>
        </p:nvSpPr>
        <p:spPr>
          <a:xfrm>
            <a:off x="6248400" y="35433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64FD3D-694F-1D22-2516-8143E8441EA8}"/>
              </a:ext>
            </a:extLst>
          </p:cNvPr>
          <p:cNvSpPr/>
          <p:nvPr/>
        </p:nvSpPr>
        <p:spPr>
          <a:xfrm>
            <a:off x="6248400" y="3543300"/>
            <a:ext cx="63500" cy="6985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EEA2B63-4CBF-E870-324D-8277D8F76B64}"/>
              </a:ext>
            </a:extLst>
          </p:cNvPr>
          <p:cNvSpPr txBox="1"/>
          <p:nvPr/>
        </p:nvSpPr>
        <p:spPr>
          <a:xfrm>
            <a:off x="6438900" y="36322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06  Release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DC832D-7DC4-AE42-6E7A-ADCB4E889D7D}"/>
              </a:ext>
            </a:extLst>
          </p:cNvPr>
          <p:cNvSpPr txBox="1"/>
          <p:nvPr/>
        </p:nvSpPr>
        <p:spPr>
          <a:xfrm>
            <a:off x="6438900" y="39116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Eligibility → sign → verify → settle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C2AEF7D5-9660-89B5-3697-3EA086E7CF2C}"/>
              </a:ext>
            </a:extLst>
          </p:cNvPr>
          <p:cNvSpPr/>
          <p:nvPr/>
        </p:nvSpPr>
        <p:spPr>
          <a:xfrm>
            <a:off x="609600" y="43942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A98EF38-4E80-3737-7E9B-89CA53F5E401}"/>
              </a:ext>
            </a:extLst>
          </p:cNvPr>
          <p:cNvSpPr/>
          <p:nvPr/>
        </p:nvSpPr>
        <p:spPr>
          <a:xfrm>
            <a:off x="609600" y="4394200"/>
            <a:ext cx="63500" cy="6985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DEE26C-8D9C-337F-E552-C396D98F4DF5}"/>
              </a:ext>
            </a:extLst>
          </p:cNvPr>
          <p:cNvSpPr txBox="1"/>
          <p:nvPr/>
        </p:nvSpPr>
        <p:spPr>
          <a:xfrm>
            <a:off x="800100" y="44831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07  Alerts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56652E-14D1-05D4-3DF1-C66B49DCD5D0}"/>
              </a:ext>
            </a:extLst>
          </p:cNvPr>
          <p:cNvSpPr txBox="1"/>
          <p:nvPr/>
        </p:nvSpPr>
        <p:spPr>
          <a:xfrm>
            <a:off x="800100" y="47625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Notifications + escalation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57749BB8-4C2D-9FC4-DAEA-D5490BA0D9A7}"/>
              </a:ext>
            </a:extLst>
          </p:cNvPr>
          <p:cNvSpPr/>
          <p:nvPr/>
        </p:nvSpPr>
        <p:spPr>
          <a:xfrm>
            <a:off x="6248400" y="43942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FFBF6E1-B1BC-2346-7241-5331D273FDED}"/>
              </a:ext>
            </a:extLst>
          </p:cNvPr>
          <p:cNvSpPr/>
          <p:nvPr/>
        </p:nvSpPr>
        <p:spPr>
          <a:xfrm>
            <a:off x="6248400" y="4394200"/>
            <a:ext cx="63500" cy="6985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A64C315-E361-0A13-00C6-4A0593921DDE}"/>
              </a:ext>
            </a:extLst>
          </p:cNvPr>
          <p:cNvSpPr txBox="1"/>
          <p:nvPr/>
        </p:nvSpPr>
        <p:spPr>
          <a:xfrm>
            <a:off x="6438900" y="44831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08  Reporting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DD88AA3-EB01-CC3F-823A-7FA50BFA30BD}"/>
              </a:ext>
            </a:extLst>
          </p:cNvPr>
          <p:cNvSpPr txBox="1"/>
          <p:nvPr/>
        </p:nvSpPr>
        <p:spPr>
          <a:xfrm>
            <a:off x="6438900" y="47625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KPI dashboard + reports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CEDAB960-E363-53CD-5DCB-A43248B2FA21}"/>
              </a:ext>
            </a:extLst>
          </p:cNvPr>
          <p:cNvSpPr/>
          <p:nvPr/>
        </p:nvSpPr>
        <p:spPr>
          <a:xfrm>
            <a:off x="609600" y="52451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C0533B7-F7EE-C94B-6C89-F8F8ABA105A7}"/>
              </a:ext>
            </a:extLst>
          </p:cNvPr>
          <p:cNvSpPr/>
          <p:nvPr/>
        </p:nvSpPr>
        <p:spPr>
          <a:xfrm>
            <a:off x="609600" y="5245100"/>
            <a:ext cx="63500" cy="6985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BDADCCC-CC1F-EF2D-E408-A714F9795F81}"/>
              </a:ext>
            </a:extLst>
          </p:cNvPr>
          <p:cNvSpPr txBox="1"/>
          <p:nvPr/>
        </p:nvSpPr>
        <p:spPr>
          <a:xfrm>
            <a:off x="800100" y="53340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09  Audit &amp; access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E08E8F-771A-CB21-21A6-6497A4ECF74C}"/>
              </a:ext>
            </a:extLst>
          </p:cNvPr>
          <p:cNvSpPr txBox="1"/>
          <p:nvPr/>
        </p:nvSpPr>
        <p:spPr>
          <a:xfrm>
            <a:off x="800100" y="56134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>
                <a:solidFill>
                  <a:srgbClr val="192B3F"/>
                </a:solidFill>
                <a:latin typeface="Arial" panose="020B0604020202020204" pitchFamily="34" charset="0"/>
              </a:rPr>
              <a:t>Role guards + integrity-checkable audit</a:t>
            </a: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6D025A6B-7C91-2916-7A7E-CD55BA6D892F}"/>
              </a:ext>
            </a:extLst>
          </p:cNvPr>
          <p:cNvSpPr/>
          <p:nvPr/>
        </p:nvSpPr>
        <p:spPr>
          <a:xfrm>
            <a:off x="6248400" y="5245100"/>
            <a:ext cx="5334000" cy="698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37074DE-4D25-D8AD-0E36-0263E296AE2F}"/>
              </a:ext>
            </a:extLst>
          </p:cNvPr>
          <p:cNvSpPr/>
          <p:nvPr/>
        </p:nvSpPr>
        <p:spPr>
          <a:xfrm>
            <a:off x="6248400" y="5245100"/>
            <a:ext cx="63500" cy="6985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DE1875-5289-50A0-5240-B93115D31A05}"/>
              </a:ext>
            </a:extLst>
          </p:cNvPr>
          <p:cNvSpPr txBox="1"/>
          <p:nvPr/>
        </p:nvSpPr>
        <p:spPr>
          <a:xfrm>
            <a:off x="6438900" y="53340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10  Integration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4D5A64-8CB3-9900-2204-7CEBDC1BB280}"/>
              </a:ext>
            </a:extLst>
          </p:cNvPr>
          <p:cNvSpPr txBox="1"/>
          <p:nvPr/>
        </p:nvSpPr>
        <p:spPr>
          <a:xfrm>
            <a:off x="6438900" y="5613400"/>
            <a:ext cx="4889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fr-FR" sz="800">
                <a:solidFill>
                  <a:srgbClr val="192B3F"/>
                </a:solidFill>
                <a:latin typeface="Arial" panose="020B0604020202020204" pitchFamily="34" charset="0"/>
              </a:rPr>
              <a:t>Bank/signer adapters + public verifier</a:t>
            </a:r>
            <a:endParaRPr lang="en-US" sz="800">
              <a:solidFill>
                <a:srgbClr val="192B3F"/>
              </a:solidFill>
              <a:latin typeface="Arial" panose="020B06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D66A66-4AC9-99B9-D638-E07DB85CC7F8}"/>
              </a:ext>
            </a:extLst>
          </p:cNvPr>
          <p:cNvSpPr txBox="1"/>
          <p:nvPr/>
        </p:nvSpPr>
        <p:spPr>
          <a:xfrm>
            <a:off x="609600" y="6235700"/>
            <a:ext cx="10922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B74944"/>
                </a:solidFill>
                <a:latin typeface="Arial" panose="020B0604020202020204" pitchFamily="34" charset="0"/>
              </a:rPr>
              <a:t>Checklist status is not a certification: verify each item against the current build and its test evidence.</a:t>
            </a:r>
          </a:p>
        </p:txBody>
      </p:sp>
    </p:spTree>
    <p:extLst>
      <p:ext uri="{BB962C8B-B14F-4D97-AF65-F5344CB8AC3E}">
        <p14:creationId xmlns:p14="http://schemas.microsoft.com/office/powerpoint/2010/main" val="2739517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CAF2B-723E-9F0E-B64C-3DDC4FB3D0AC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10 / FEASIBILITY &amp; HONESTY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8B4C7C-3202-2D9E-E865-B08BD0EEE662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What v1.0 demonstrates—and what remains a boundary.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A35093-F0A4-A261-9239-AED908257B89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A prototype can prove workflow logic without pretending to be a production integration.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E14587-3CBD-7B1D-525E-EBA7A1FF1634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629C4F-4528-64CE-747C-BDFC99A1DD7B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2DA70E-4756-53B9-C47E-348AEDE9695B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4-Day Plan §§1.2–1.3, 10; SRS Appendix 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8AF81A-F001-6AD1-D54D-8DAFFFE633FB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11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5153807-F24A-2F9F-ACB8-7840D789B3ED}"/>
              </a:ext>
            </a:extLst>
          </p:cNvPr>
          <p:cNvSpPr/>
          <p:nvPr/>
        </p:nvSpPr>
        <p:spPr>
          <a:xfrm>
            <a:off x="609600" y="1943100"/>
            <a:ext cx="53340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A7DB5A-742C-0846-E14D-1FC70BEF4B96}"/>
              </a:ext>
            </a:extLst>
          </p:cNvPr>
          <p:cNvSpPr/>
          <p:nvPr/>
        </p:nvSpPr>
        <p:spPr>
          <a:xfrm>
            <a:off x="609600" y="1943100"/>
            <a:ext cx="63500" cy="16256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D8B500-19B5-17AD-8321-3CCB281DFA37}"/>
              </a:ext>
            </a:extLst>
          </p:cNvPr>
          <p:cNvSpPr txBox="1"/>
          <p:nvPr/>
        </p:nvSpPr>
        <p:spPr>
          <a:xfrm>
            <a:off x="838200" y="21335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Demonstrates in the prototype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B36F9E-5F6A-9D53-BF60-BA64C95C7FC9}"/>
              </a:ext>
            </a:extLst>
          </p:cNvPr>
          <p:cNvSpPr txBox="1"/>
          <p:nvPr/>
        </p:nvSpPr>
        <p:spPr>
          <a:xfrm>
            <a:off x="838200" y="2552699"/>
            <a:ext cx="4902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Role-based journeys and interfaces
Rule-driven workflow states
Synthetic, fictional demo records
API contracts and adapter seams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55CFF1-0594-B77D-4AE7-5461D80E775B}"/>
              </a:ext>
            </a:extLst>
          </p:cNvPr>
          <p:cNvSpPr/>
          <p:nvPr/>
        </p:nvSpPr>
        <p:spPr>
          <a:xfrm>
            <a:off x="6248400" y="1943100"/>
            <a:ext cx="53340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0F93EA-B549-8767-1AE2-4C626CD947DA}"/>
              </a:ext>
            </a:extLst>
          </p:cNvPr>
          <p:cNvSpPr/>
          <p:nvPr/>
        </p:nvSpPr>
        <p:spPr>
          <a:xfrm>
            <a:off x="6248400" y="1943100"/>
            <a:ext cx="63500" cy="16256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E7CCF8-2E2D-BFB7-6F8D-CA55683D0159}"/>
              </a:ext>
            </a:extLst>
          </p:cNvPr>
          <p:cNvSpPr txBox="1"/>
          <p:nvPr/>
        </p:nvSpPr>
        <p:spPr>
          <a:xfrm>
            <a:off x="6477000" y="21335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Not a production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5D285EF-F237-6C26-924E-4638E29A2B75}"/>
              </a:ext>
            </a:extLst>
          </p:cNvPr>
          <p:cNvSpPr txBox="1"/>
          <p:nvPr/>
        </p:nvSpPr>
        <p:spPr>
          <a:xfrm>
            <a:off x="6477000" y="2552699"/>
            <a:ext cx="4902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No real bank core/SFMS connection
No fund movement by Sakshya
Software signing is simulated
Policy defaults still need validation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81A584E-3A98-A9F1-74EF-F57CA24B27F2}"/>
              </a:ext>
            </a:extLst>
          </p:cNvPr>
          <p:cNvSpPr/>
          <p:nvPr/>
        </p:nvSpPr>
        <p:spPr>
          <a:xfrm>
            <a:off x="609600" y="3822700"/>
            <a:ext cx="53340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0ABC16A-8F7A-37A3-D7CD-52BD50B12301}"/>
              </a:ext>
            </a:extLst>
          </p:cNvPr>
          <p:cNvSpPr/>
          <p:nvPr/>
        </p:nvSpPr>
        <p:spPr>
          <a:xfrm>
            <a:off x="609600" y="3822700"/>
            <a:ext cx="63500" cy="16256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6692197-CDF3-53C6-F83C-EBE853C6FF57}"/>
              </a:ext>
            </a:extLst>
          </p:cNvPr>
          <p:cNvSpPr txBox="1"/>
          <p:nvPr/>
        </p:nvSpPr>
        <p:spPr>
          <a:xfrm>
            <a:off x="838200" y="4013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Safe interpretation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24D78A-55E9-4F6E-0D27-7BF57B02288A}"/>
              </a:ext>
            </a:extLst>
          </p:cNvPr>
          <p:cNvSpPr txBox="1"/>
          <p:nvPr/>
        </p:nvSpPr>
        <p:spPr>
          <a:xfrm>
            <a:off x="838200" y="4432299"/>
            <a:ext cx="4902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Document heuristics surface flags
A flag is not proof of fraud
Bank confirmation is a distinct step
Human authority remains explicit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DC58B7F-6C12-41F0-23AF-1C5E598953CA}"/>
              </a:ext>
            </a:extLst>
          </p:cNvPr>
          <p:cNvSpPr/>
          <p:nvPr/>
        </p:nvSpPr>
        <p:spPr>
          <a:xfrm>
            <a:off x="6248400" y="3822700"/>
            <a:ext cx="5334000" cy="1625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CBA228-639D-64A5-9A31-8046B3E16AB0}"/>
              </a:ext>
            </a:extLst>
          </p:cNvPr>
          <p:cNvSpPr/>
          <p:nvPr/>
        </p:nvSpPr>
        <p:spPr>
          <a:xfrm>
            <a:off x="6248400" y="3822700"/>
            <a:ext cx="63500" cy="16256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93D98A-1567-DEBE-3BFA-8F63E3C8E9CB}"/>
              </a:ext>
            </a:extLst>
          </p:cNvPr>
          <p:cNvSpPr txBox="1"/>
          <p:nvPr/>
        </p:nvSpPr>
        <p:spPr>
          <a:xfrm>
            <a:off x="6477000" y="4013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400" b="1">
                <a:solidFill>
                  <a:srgbClr val="0B1F3A"/>
                </a:solidFill>
                <a:latin typeface="Arial" panose="020B0604020202020204" pitchFamily="34" charset="0"/>
              </a:rPr>
              <a:t>Current verification status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33E345-A65A-8B99-97FF-85C0D9BCF479}"/>
              </a:ext>
            </a:extLst>
          </p:cNvPr>
          <p:cNvSpPr txBox="1"/>
          <p:nvPr/>
        </p:nvSpPr>
        <p:spPr>
          <a:xfrm>
            <a:off x="6477000" y="4432299"/>
            <a:ext cx="4902200" cy="889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PA-1–PA-4 frontend flows exist
Build and lint checks pass
Selected flows tested with mocks
Live end-to-end depends on API readiness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FD2B56-302E-FFF2-E3D4-997B10E0B362}"/>
              </a:ext>
            </a:extLst>
          </p:cNvPr>
          <p:cNvSpPr txBox="1"/>
          <p:nvPr/>
        </p:nvSpPr>
        <p:spPr>
          <a:xfrm>
            <a:off x="609600" y="5727699"/>
            <a:ext cx="109220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0B1F3A"/>
                </a:solidFill>
                <a:latin typeface="Arial" panose="020B0604020202020204" pitchFamily="34" charset="0"/>
              </a:rPr>
              <a:t>Data labels: synthetic = demo corpus  /  assumed = unvalidated baseline  /  measured = computed from a stated dataset.</a:t>
            </a:r>
          </a:p>
        </p:txBody>
      </p:sp>
    </p:spTree>
    <p:extLst>
      <p:ext uri="{BB962C8B-B14F-4D97-AF65-F5344CB8AC3E}">
        <p14:creationId xmlns:p14="http://schemas.microsoft.com/office/powerpoint/2010/main" val="1294063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E54AD8-7C79-AE8A-D0AD-9813222B81B5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11 / ROADMAP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DA9DA0-74C4-9C14-BCAA-99F31A35B7F6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Move from a runnable slice to an operable public service.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BB14EB-379D-C6BA-C725-28DA5C5E1F38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Sequence the next investments around verified needs, integrations and governance.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D2B1D7-31D5-DA37-FCA7-03072F278C81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7DCE5D1-CAF0-3FBB-09DE-A23F33E0C826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E29603-1321-6868-35D6-8069A4C4B015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4-Day Plan §10; SRS Appendix H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DB3DC9-94EA-0421-D33F-A02BFED60088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12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9FC36FD-70C1-5D8B-354B-858991B54CEF}"/>
              </a:ext>
            </a:extLst>
          </p:cNvPr>
          <p:cNvSpPr/>
          <p:nvPr/>
        </p:nvSpPr>
        <p:spPr>
          <a:xfrm>
            <a:off x="609600" y="2247900"/>
            <a:ext cx="3429000" cy="287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D17921-3E27-55AA-01F9-E98B32288395}"/>
              </a:ext>
            </a:extLst>
          </p:cNvPr>
          <p:cNvSpPr/>
          <p:nvPr/>
        </p:nvSpPr>
        <p:spPr>
          <a:xfrm>
            <a:off x="609600" y="2247900"/>
            <a:ext cx="3429000" cy="889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58F306-5ECC-0D37-9923-E9D0C4287189}"/>
              </a:ext>
            </a:extLst>
          </p:cNvPr>
          <p:cNvSpPr txBox="1"/>
          <p:nvPr/>
        </p:nvSpPr>
        <p:spPr>
          <a:xfrm>
            <a:off x="838200" y="2527300"/>
            <a:ext cx="2984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3A75B0"/>
                </a:solidFill>
                <a:latin typeface="Arial" panose="020B0604020202020204" pitchFamily="34" charset="0"/>
              </a:rPr>
              <a:t>NOW  /  PROTOTYPE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768500-3704-B25A-AC9E-BC4FD4130F26}"/>
              </a:ext>
            </a:extLst>
          </p:cNvPr>
          <p:cNvSpPr txBox="1"/>
          <p:nvPr/>
        </p:nvSpPr>
        <p:spPr>
          <a:xfrm>
            <a:off x="838200" y="3009899"/>
            <a:ext cx="2984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Prove the golden path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95BFB0-7D95-6199-0F58-FA7AA73288E6}"/>
              </a:ext>
            </a:extLst>
          </p:cNvPr>
          <p:cNvSpPr txBox="1"/>
          <p:nvPr/>
        </p:nvSpPr>
        <p:spPr>
          <a:xfrm>
            <a:off x="838200" y="3644899"/>
            <a:ext cx="2921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Complete backend/API integration
Rehearse seeded scenarios
Close known issues + test evidence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146C82A-1E23-F122-3B70-F6AE7FE92245}"/>
              </a:ext>
            </a:extLst>
          </p:cNvPr>
          <p:cNvSpPr/>
          <p:nvPr/>
        </p:nvSpPr>
        <p:spPr>
          <a:xfrm>
            <a:off x="4368800" y="2247900"/>
            <a:ext cx="3429000" cy="287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E6A859-51E4-9BFF-A521-FF99A9E7C0CB}"/>
              </a:ext>
            </a:extLst>
          </p:cNvPr>
          <p:cNvSpPr/>
          <p:nvPr/>
        </p:nvSpPr>
        <p:spPr>
          <a:xfrm>
            <a:off x="4368800" y="2247900"/>
            <a:ext cx="3429000" cy="889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9C7D7-9FB7-8F92-67B3-7D36436BACE4}"/>
              </a:ext>
            </a:extLst>
          </p:cNvPr>
          <p:cNvSpPr txBox="1"/>
          <p:nvPr/>
        </p:nvSpPr>
        <p:spPr>
          <a:xfrm>
            <a:off x="4597400" y="2527300"/>
            <a:ext cx="2984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298F97"/>
                </a:solidFill>
                <a:latin typeface="Arial" panose="020B0604020202020204" pitchFamily="34" charset="0"/>
              </a:rPr>
              <a:t>NEXT  /  HARDEN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050869-1786-3F34-5495-9CDEBC164A4D}"/>
              </a:ext>
            </a:extLst>
          </p:cNvPr>
          <p:cNvSpPr txBox="1"/>
          <p:nvPr/>
        </p:nvSpPr>
        <p:spPr>
          <a:xfrm>
            <a:off x="4597400" y="3009899"/>
            <a:ext cx="2984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Strengthen operations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F0D40E-749E-A04F-72A6-A6828272AE49}"/>
              </a:ext>
            </a:extLst>
          </p:cNvPr>
          <p:cNvSpPr txBox="1"/>
          <p:nvPr/>
        </p:nvSpPr>
        <p:spPr>
          <a:xfrm>
            <a:off x="4597400" y="3644899"/>
            <a:ext cx="2921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PostgreSQL + migrations
Object storage + job queue
CI, security and observability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C5E36CF-6DC7-B012-1C0A-158B24CB3273}"/>
              </a:ext>
            </a:extLst>
          </p:cNvPr>
          <p:cNvSpPr/>
          <p:nvPr/>
        </p:nvSpPr>
        <p:spPr>
          <a:xfrm>
            <a:off x="8128000" y="2247900"/>
            <a:ext cx="3429000" cy="287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3F320B-1A65-4A9C-B30B-5AA2A0F70D8D}"/>
              </a:ext>
            </a:extLst>
          </p:cNvPr>
          <p:cNvSpPr/>
          <p:nvPr/>
        </p:nvSpPr>
        <p:spPr>
          <a:xfrm>
            <a:off x="8128000" y="2247900"/>
            <a:ext cx="3429000" cy="889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430F40D-A2D2-6D33-D3E8-D998C903F6FB}"/>
              </a:ext>
            </a:extLst>
          </p:cNvPr>
          <p:cNvSpPr txBox="1"/>
          <p:nvPr/>
        </p:nvSpPr>
        <p:spPr>
          <a:xfrm>
            <a:off x="8356600" y="2527300"/>
            <a:ext cx="2984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EC9D2A"/>
                </a:solidFill>
                <a:latin typeface="Arial" panose="020B0604020202020204" pitchFamily="34" charset="0"/>
              </a:rPr>
              <a:t>LATER  /  CONNECT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8230F7-74E9-A338-E0D8-ED98C94A155A}"/>
              </a:ext>
            </a:extLst>
          </p:cNvPr>
          <p:cNvSpPr txBox="1"/>
          <p:nvPr/>
        </p:nvSpPr>
        <p:spPr>
          <a:xfrm>
            <a:off x="8356600" y="3009899"/>
            <a:ext cx="2984500" cy="406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0B1F3A"/>
                </a:solidFill>
                <a:latin typeface="Arial" panose="020B0604020202020204" pitchFamily="34" charset="0"/>
              </a:rPr>
              <a:t>Integrate with institutions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A42D2B3-09A7-D448-6181-99049FC0FF24}"/>
              </a:ext>
            </a:extLst>
          </p:cNvPr>
          <p:cNvSpPr txBox="1"/>
          <p:nvPr/>
        </p:nvSpPr>
        <p:spPr>
          <a:xfrm>
            <a:off x="8356600" y="3644899"/>
            <a:ext cx="2921000" cy="1143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192B3F"/>
                </a:solidFill>
                <a:latin typeface="Arial" panose="020B0604020202020204" pitchFamily="34" charset="0"/>
              </a:rPr>
              <a:t>Bank channel adapters
Provider-backed eSign + KMS/HSM
Government hosting + validated policy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89798B-C40B-EEA1-C2D9-152C992A06FE}"/>
              </a:ext>
            </a:extLst>
          </p:cNvPr>
          <p:cNvSpPr txBox="1"/>
          <p:nvPr/>
        </p:nvSpPr>
        <p:spPr>
          <a:xfrm>
            <a:off x="609600" y="5524499"/>
            <a:ext cx="10922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 b="1">
                <a:solidFill>
                  <a:srgbClr val="0B1F3A"/>
                </a:solidFill>
                <a:latin typeface="Arial" panose="020B0604020202020204" pitchFamily="34" charset="0"/>
              </a:rPr>
              <a:t>Also validate regulatory/policy values with AICTE and mentors before operational use.</a:t>
            </a:r>
          </a:p>
        </p:txBody>
      </p:sp>
    </p:spTree>
    <p:extLst>
      <p:ext uri="{BB962C8B-B14F-4D97-AF65-F5344CB8AC3E}">
        <p14:creationId xmlns:p14="http://schemas.microsoft.com/office/powerpoint/2010/main" val="1830592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89BB06-3878-0263-30CD-89122A4E1770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12 / JUDGE Q&amp;A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B5C37B-84D8-62FF-4BD9-9703FA84549E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Hard questions deserve precise answers.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4030D3-F124-4D47-72D7-EE824A8C02D4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Use the boundary—not a promise—as the answer when evidence is not yet available.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950D04-8A9D-0296-F454-931594EE40D6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DEA0B2-2A27-1409-4713-8633B3F01E18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F7CA1-B701-2D15-AEED-862631A8C0A8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SRS §§1.2, 2.5, 3.6, Appendix H; 4-Day Plan §§1.2, 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93CC8-C640-A2CA-48E2-6F033D1B2803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13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6A0973-5066-7844-F98A-6B03242C7ADD}"/>
              </a:ext>
            </a:extLst>
          </p:cNvPr>
          <p:cNvSpPr/>
          <p:nvPr/>
        </p:nvSpPr>
        <p:spPr>
          <a:xfrm>
            <a:off x="609600" y="18161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3B72E-B555-0F59-96E3-5040E2557BB2}"/>
              </a:ext>
            </a:extLst>
          </p:cNvPr>
          <p:cNvSpPr/>
          <p:nvPr/>
        </p:nvSpPr>
        <p:spPr>
          <a:xfrm>
            <a:off x="609600" y="1816100"/>
            <a:ext cx="63500" cy="12827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A71E94-BD78-A1F9-9BBA-84FD9168F7F6}"/>
              </a:ext>
            </a:extLst>
          </p:cNvPr>
          <p:cNvSpPr txBox="1"/>
          <p:nvPr/>
        </p:nvSpPr>
        <p:spPr>
          <a:xfrm>
            <a:off x="838200" y="20065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Bank API availability?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8BBEB8-A2A2-9EB7-CA37-30253C322343}"/>
              </a:ext>
            </a:extLst>
          </p:cNvPr>
          <p:cNvSpPr txBox="1"/>
          <p:nvPr/>
        </p:nvSpPr>
        <p:spPr>
          <a:xfrm>
            <a:off x="838200" y="24256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Not assumed. The portal channel is the initial path; API/bulk adapters need bank-by-bank onboarding.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EC02D92-F43F-CE8C-2854-3E8E5687CACC}"/>
              </a:ext>
            </a:extLst>
          </p:cNvPr>
          <p:cNvSpPr/>
          <p:nvPr/>
        </p:nvSpPr>
        <p:spPr>
          <a:xfrm>
            <a:off x="6248400" y="18161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47A714-BDF7-8946-9BD9-16E56E0D9339}"/>
              </a:ext>
            </a:extLst>
          </p:cNvPr>
          <p:cNvSpPr/>
          <p:nvPr/>
        </p:nvSpPr>
        <p:spPr>
          <a:xfrm>
            <a:off x="6248400" y="1816100"/>
            <a:ext cx="63500" cy="12827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066C0D-CA43-9C5F-4BFB-9793CC2EF93B}"/>
              </a:ext>
            </a:extLst>
          </p:cNvPr>
          <p:cNvSpPr txBox="1"/>
          <p:nvPr/>
        </p:nvSpPr>
        <p:spPr>
          <a:xfrm>
            <a:off x="6477000" y="20065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What is the legal basis for lien?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11236-3D94-FA55-48B4-8FF74D722F97}"/>
              </a:ext>
            </a:extLst>
          </p:cNvPr>
          <p:cNvSpPr txBox="1"/>
          <p:nvPr/>
        </p:nvSpPr>
        <p:spPr>
          <a:xfrm>
            <a:off x="6477000" y="24256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The prototype does not adjudicate legal authority. AICTE must validate the mandate, rules and prescribed format.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B8303B2-B950-561B-20AD-BD8ABF38616C}"/>
              </a:ext>
            </a:extLst>
          </p:cNvPr>
          <p:cNvSpPr/>
          <p:nvPr/>
        </p:nvSpPr>
        <p:spPr>
          <a:xfrm>
            <a:off x="609600" y="33274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C06CC4-C645-B0E0-CD4A-FC09910D8B8E}"/>
              </a:ext>
            </a:extLst>
          </p:cNvPr>
          <p:cNvSpPr/>
          <p:nvPr/>
        </p:nvSpPr>
        <p:spPr>
          <a:xfrm>
            <a:off x="609600" y="3327400"/>
            <a:ext cx="63500" cy="1282700"/>
          </a:xfrm>
          <a:prstGeom prst="rect">
            <a:avLst/>
          </a:prstGeom>
          <a:solidFill>
            <a:srgbClr val="298F97"/>
          </a:solidFill>
          <a:ln w="12700">
            <a:solidFill>
              <a:srgbClr val="298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F69857-C1BA-230C-4D04-522291A2BC5B}"/>
              </a:ext>
            </a:extLst>
          </p:cNvPr>
          <p:cNvSpPr txBox="1"/>
          <p:nvPr/>
        </p:nvSpPr>
        <p:spPr>
          <a:xfrm>
            <a:off x="838200" y="35178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Can forgery detection prove fraud?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8ECCE7-6774-7947-4CE3-04956D3EAF88}"/>
              </a:ext>
            </a:extLst>
          </p:cNvPr>
          <p:cNvSpPr txBox="1"/>
          <p:nvPr/>
        </p:nvSpPr>
        <p:spPr>
          <a:xfrm>
            <a:off x="838200" y="39369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No. OCR/QR/consistency checks raise explainable flags; independent bank confirmation is required.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62676EB-8E60-4201-D35B-3EA7CFF3E250}"/>
              </a:ext>
            </a:extLst>
          </p:cNvPr>
          <p:cNvSpPr/>
          <p:nvPr/>
        </p:nvSpPr>
        <p:spPr>
          <a:xfrm>
            <a:off x="6248400" y="33274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FFD85E2-BD5A-F7A8-B652-0219A34BAF02}"/>
              </a:ext>
            </a:extLst>
          </p:cNvPr>
          <p:cNvSpPr/>
          <p:nvPr/>
        </p:nvSpPr>
        <p:spPr>
          <a:xfrm>
            <a:off x="6248400" y="3327400"/>
            <a:ext cx="63500" cy="1282700"/>
          </a:xfrm>
          <a:prstGeom prst="rect">
            <a:avLst/>
          </a:prstGeom>
          <a:solidFill>
            <a:srgbClr val="208462"/>
          </a:solidFill>
          <a:ln w="12700">
            <a:solidFill>
              <a:srgbClr val="2084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3CD282-8094-C3BC-3576-35211C75AA41}"/>
              </a:ext>
            </a:extLst>
          </p:cNvPr>
          <p:cNvSpPr txBox="1"/>
          <p:nvPr/>
        </p:nvSpPr>
        <p:spPr>
          <a:xfrm>
            <a:off x="6477000" y="35178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Will it scale?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6B63E9-8650-BCEE-8678-6BBCBF3A70F4}"/>
              </a:ext>
            </a:extLst>
          </p:cNvPr>
          <p:cNvSpPr txBox="1"/>
          <p:nvPr/>
        </p:nvSpPr>
        <p:spPr>
          <a:xfrm>
            <a:off x="6477000" y="39369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The prototype stack is deliberately small. Production needs migration, storage, queue, security and performance work.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154D3BE-630E-BC51-6418-5156420CCCBB}"/>
              </a:ext>
            </a:extLst>
          </p:cNvPr>
          <p:cNvSpPr/>
          <p:nvPr/>
        </p:nvSpPr>
        <p:spPr>
          <a:xfrm>
            <a:off x="609600" y="48387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E5C4D04-EC5D-99F2-62B1-42510865F06B}"/>
              </a:ext>
            </a:extLst>
          </p:cNvPr>
          <p:cNvSpPr/>
          <p:nvPr/>
        </p:nvSpPr>
        <p:spPr>
          <a:xfrm>
            <a:off x="609600" y="4838700"/>
            <a:ext cx="63500" cy="1282700"/>
          </a:xfrm>
          <a:prstGeom prst="rect">
            <a:avLst/>
          </a:prstGeom>
          <a:solidFill>
            <a:srgbClr val="3A75B0"/>
          </a:solidFill>
          <a:ln w="12700">
            <a:solidFill>
              <a:srgbClr val="3A75B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9215E0-9BB9-04E6-53DC-9D05730AFC9F}"/>
              </a:ext>
            </a:extLst>
          </p:cNvPr>
          <p:cNvSpPr txBox="1"/>
          <p:nvPr/>
        </p:nvSpPr>
        <p:spPr>
          <a:xfrm>
            <a:off x="838200" y="5029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How is privacy protected?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EE3E022-3628-7260-A155-DD871FC32D5C}"/>
              </a:ext>
            </a:extLst>
          </p:cNvPr>
          <p:cNvSpPr txBox="1"/>
          <p:nvPr/>
        </p:nvSpPr>
        <p:spPr>
          <a:xfrm>
            <a:off x="838200" y="54482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Use minimum necessary data, role/scope controls and audit; demo data is synthetic. Production governance remains required.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7586797-6AEF-8C99-76B0-ED7B699BEF54}"/>
              </a:ext>
            </a:extLst>
          </p:cNvPr>
          <p:cNvSpPr/>
          <p:nvPr/>
        </p:nvSpPr>
        <p:spPr>
          <a:xfrm>
            <a:off x="6248400" y="4838700"/>
            <a:ext cx="5334000" cy="1282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E6B68F-ECD0-D94C-E322-CBD359CD2306}"/>
              </a:ext>
            </a:extLst>
          </p:cNvPr>
          <p:cNvSpPr/>
          <p:nvPr/>
        </p:nvSpPr>
        <p:spPr>
          <a:xfrm>
            <a:off x="6248400" y="4838700"/>
            <a:ext cx="63500" cy="12827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1F7B6B9-7977-E202-96B3-20B8CEDAC6B1}"/>
              </a:ext>
            </a:extLst>
          </p:cNvPr>
          <p:cNvSpPr txBox="1"/>
          <p:nvPr/>
        </p:nvSpPr>
        <p:spPr>
          <a:xfrm>
            <a:off x="6477000" y="5029199"/>
            <a:ext cx="4902200" cy="342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 b="1">
                <a:solidFill>
                  <a:srgbClr val="0B1F3A"/>
                </a:solidFill>
                <a:latin typeface="Arial" panose="020B0604020202020204" pitchFamily="34" charset="0"/>
              </a:rPr>
              <a:t>Can it run in government hosting?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6F71743-65BA-3BCE-1703-1AE27F309A36}"/>
              </a:ext>
            </a:extLst>
          </p:cNvPr>
          <p:cNvSpPr txBox="1"/>
          <p:nvPr/>
        </p:nvSpPr>
        <p:spPr>
          <a:xfrm>
            <a:off x="6477000" y="5448299"/>
            <a:ext cx="4902200" cy="546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Designed without mandatory SaaS; deployment, data residency, secrets and KMS/HSM need production hardening.</a:t>
            </a:r>
          </a:p>
        </p:txBody>
      </p:sp>
    </p:spTree>
    <p:extLst>
      <p:ext uri="{BB962C8B-B14F-4D97-AF65-F5344CB8AC3E}">
        <p14:creationId xmlns:p14="http://schemas.microsoft.com/office/powerpoint/2010/main" val="303291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FB65886-E64B-9862-2963-648B726B4174}"/>
              </a:ext>
            </a:extLst>
          </p:cNvPr>
          <p:cNvSpPr txBox="1"/>
          <p:nvPr/>
        </p:nvSpPr>
        <p:spPr>
          <a:xfrm>
            <a:off x="609600" y="342900"/>
            <a:ext cx="109220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3A75B0"/>
                </a:solidFill>
                <a:latin typeface="Arial" panose="020B0604020202020204" pitchFamily="34" charset="0"/>
              </a:rPr>
              <a:t>13 / PRESENTER RUN SHEET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1F985C-F9CD-A5D1-61E4-81552B7F6D1D}"/>
              </a:ext>
            </a:extLst>
          </p:cNvPr>
          <p:cNvSpPr txBox="1"/>
          <p:nvPr/>
        </p:nvSpPr>
        <p:spPr>
          <a:xfrm>
            <a:off x="609600" y="647699"/>
            <a:ext cx="11049000" cy="533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2700" b="1">
                <a:solidFill>
                  <a:srgbClr val="0B1F3A"/>
                </a:solidFill>
                <a:latin typeface="Arial" panose="020B0604020202020204" pitchFamily="34" charset="0"/>
              </a:rPr>
              <a:t>A 7-minute planned route through the six test scenarios.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FA6C4-11C2-7DED-6049-B6A8E80C1AE2}"/>
              </a:ext>
            </a:extLst>
          </p:cNvPr>
          <p:cNvSpPr txBox="1"/>
          <p:nvPr/>
        </p:nvSpPr>
        <p:spPr>
          <a:xfrm>
            <a:off x="609600" y="1244599"/>
            <a:ext cx="10922000" cy="355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200">
                <a:solidFill>
                  <a:srgbClr val="5D6F83"/>
                </a:solidFill>
                <a:latin typeface="Arial" panose="020B0604020202020204" pitchFamily="34" charset="0"/>
              </a:rPr>
              <a:t>Planned timings only—not measured demo duration. Use reset seed state; keep a recording as fallback.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5CFF16-CAA5-76CE-4FB1-69DCCC978747}"/>
              </a:ext>
            </a:extLst>
          </p:cNvPr>
          <p:cNvSpPr/>
          <p:nvPr/>
        </p:nvSpPr>
        <p:spPr>
          <a:xfrm>
            <a:off x="609600" y="6362700"/>
            <a:ext cx="10972800" cy="12700"/>
          </a:xfrm>
          <a:prstGeom prst="rect">
            <a:avLst/>
          </a:prstGeom>
          <a:solidFill>
            <a:srgbClr val="DCE4ED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773409-68B0-9835-11F1-84F75E05A435}"/>
              </a:ext>
            </a:extLst>
          </p:cNvPr>
          <p:cNvSpPr txBox="1"/>
          <p:nvPr/>
        </p:nvSpPr>
        <p:spPr>
          <a:xfrm>
            <a:off x="609600" y="6477000"/>
            <a:ext cx="6731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SAKSHYA  /  SIH PITCH  /  PROTOTYPE v1.0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DAC16-2DF5-E8FE-43E6-6DF2EFB88AAD}"/>
              </a:ext>
            </a:extLst>
          </p:cNvPr>
          <p:cNvSpPr txBox="1"/>
          <p:nvPr/>
        </p:nvSpPr>
        <p:spPr>
          <a:xfrm>
            <a:off x="609600" y="6121400"/>
            <a:ext cx="10223500" cy="177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700">
                <a:solidFill>
                  <a:srgbClr val="5D6F83"/>
                </a:solidFill>
                <a:latin typeface="Arial" panose="020B0604020202020204" pitchFamily="34" charset="0"/>
              </a:rPr>
              <a:t>Source: SRS §9.1; 4-Day Plan §§1.1, 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C2442E-5051-27C7-D350-3F8D763BB41C}"/>
              </a:ext>
            </a:extLst>
          </p:cNvPr>
          <p:cNvSpPr txBox="1"/>
          <p:nvPr/>
        </p:nvSpPr>
        <p:spPr>
          <a:xfrm>
            <a:off x="11074400" y="6477000"/>
            <a:ext cx="508000" cy="1905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5D6F83"/>
                </a:solidFill>
                <a:latin typeface="Arial" panose="020B0604020202020204" pitchFamily="34" charset="0"/>
              </a:rPr>
              <a:t>14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1A3987B-8F60-0C4A-684A-508EED6F7A33}"/>
              </a:ext>
            </a:extLst>
          </p:cNvPr>
          <p:cNvSpPr/>
          <p:nvPr/>
        </p:nvSpPr>
        <p:spPr>
          <a:xfrm>
            <a:off x="609600" y="18542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707574-750B-D7E9-3F01-89035F324953}"/>
              </a:ext>
            </a:extLst>
          </p:cNvPr>
          <p:cNvSpPr txBox="1"/>
          <p:nvPr/>
        </p:nvSpPr>
        <p:spPr>
          <a:xfrm>
            <a:off x="774700" y="20066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0:00–1:20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F4B4C9-E539-DA85-EB39-11110E553CBA}"/>
              </a:ext>
            </a:extLst>
          </p:cNvPr>
          <p:cNvSpPr txBox="1"/>
          <p:nvPr/>
        </p:nvSpPr>
        <p:spPr>
          <a:xfrm>
            <a:off x="2260600" y="19812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New FDR submission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36D027-5713-E518-34B9-BA12348FFF7C}"/>
              </a:ext>
            </a:extLst>
          </p:cNvPr>
          <p:cNvSpPr txBox="1"/>
          <p:nvPr/>
        </p:nvSpPr>
        <p:spPr>
          <a:xfrm>
            <a:off x="4978400" y="19939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G1–G2 / S1; show claimed fields and review.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6C361C-912E-3AE0-E0CA-DFBC471684ED}"/>
              </a:ext>
            </a:extLst>
          </p:cNvPr>
          <p:cNvSpPr/>
          <p:nvPr/>
        </p:nvSpPr>
        <p:spPr>
          <a:xfrm>
            <a:off x="609600" y="25527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F154EF6-25A5-E1F0-1C36-AD3DBC7D23CB}"/>
              </a:ext>
            </a:extLst>
          </p:cNvPr>
          <p:cNvSpPr txBox="1"/>
          <p:nvPr/>
        </p:nvSpPr>
        <p:spPr>
          <a:xfrm>
            <a:off x="774700" y="27051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1:20–2:20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B69F0D-4451-19FF-420C-53E044CE74AD}"/>
              </a:ext>
            </a:extLst>
          </p:cNvPr>
          <p:cNvSpPr txBox="1"/>
          <p:nvPr/>
        </p:nvSpPr>
        <p:spPr>
          <a:xfrm>
            <a:off x="2260600" y="26797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Discrepancy + verification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6E8BD6-51E9-04F5-37B9-5B3CC4FEA50F}"/>
              </a:ext>
            </a:extLst>
          </p:cNvPr>
          <p:cNvSpPr txBox="1"/>
          <p:nvPr/>
        </p:nvSpPr>
        <p:spPr>
          <a:xfrm>
            <a:off x="4978400" y="26924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G3–G5, G8 / S2, S6; show flags, bank check, SoD.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59F3E4F-7A82-99E6-49E4-C388EE84A994}"/>
              </a:ext>
            </a:extLst>
          </p:cNvPr>
          <p:cNvSpPr/>
          <p:nvPr/>
        </p:nvSpPr>
        <p:spPr>
          <a:xfrm>
            <a:off x="609600" y="32512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AB33ED-CFC0-9897-7B9F-043D68DC2571}"/>
              </a:ext>
            </a:extLst>
          </p:cNvPr>
          <p:cNvSpPr txBox="1"/>
          <p:nvPr/>
        </p:nvSpPr>
        <p:spPr>
          <a:xfrm>
            <a:off x="774700" y="34036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2:20–3:15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87DBDE-7A79-0938-AABC-F76361245D7D}"/>
              </a:ext>
            </a:extLst>
          </p:cNvPr>
          <p:cNvSpPr txBox="1"/>
          <p:nvPr/>
        </p:nvSpPr>
        <p:spPr>
          <a:xfrm>
            <a:off x="2260600" y="33782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Validity + renewal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8327E-A64F-004A-F4F5-1AB63E98AF28}"/>
              </a:ext>
            </a:extLst>
          </p:cNvPr>
          <p:cNvSpPr txBox="1"/>
          <p:nvPr/>
        </p:nvSpPr>
        <p:spPr>
          <a:xfrm>
            <a:off x="4978400" y="33909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G7 / S3–S5; advance demo clock, alert, renew.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842C248-CC7F-083A-5FC9-70C2F9FBEC8A}"/>
              </a:ext>
            </a:extLst>
          </p:cNvPr>
          <p:cNvSpPr/>
          <p:nvPr/>
        </p:nvSpPr>
        <p:spPr>
          <a:xfrm>
            <a:off x="609600" y="39497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A7CA5D-235C-BFD6-AC66-751E8B1756DD}"/>
              </a:ext>
            </a:extLst>
          </p:cNvPr>
          <p:cNvSpPr txBox="1"/>
          <p:nvPr/>
        </p:nvSpPr>
        <p:spPr>
          <a:xfrm>
            <a:off x="774700" y="41021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3:15–4:30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663EC94-52C2-3C57-828D-961C8702D75A}"/>
              </a:ext>
            </a:extLst>
          </p:cNvPr>
          <p:cNvSpPr txBox="1"/>
          <p:nvPr/>
        </p:nvSpPr>
        <p:spPr>
          <a:xfrm>
            <a:off x="2260600" y="40767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Release eligibility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9CE61-1AD4-3427-B18C-572172A39C92}"/>
              </a:ext>
            </a:extLst>
          </p:cNvPr>
          <p:cNvSpPr txBox="1"/>
          <p:nvPr/>
        </p:nvSpPr>
        <p:spPr>
          <a:xfrm>
            <a:off x="4978400" y="40894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G9 / S7; show hold, remedy, recommendation.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E1A7876-974E-23C8-EFD1-EF042F899F36}"/>
              </a:ext>
            </a:extLst>
          </p:cNvPr>
          <p:cNvSpPr/>
          <p:nvPr/>
        </p:nvSpPr>
        <p:spPr>
          <a:xfrm>
            <a:off x="609600" y="46482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F52DE2-3FC0-11B5-5498-6025F97AAD3D}"/>
              </a:ext>
            </a:extLst>
          </p:cNvPr>
          <p:cNvSpPr txBox="1"/>
          <p:nvPr/>
        </p:nvSpPr>
        <p:spPr>
          <a:xfrm>
            <a:off x="774700" y="48006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4:30–5:55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B78692-81F9-10C8-898D-7AE8BC23877A}"/>
              </a:ext>
            </a:extLst>
          </p:cNvPr>
          <p:cNvSpPr txBox="1"/>
          <p:nvPr/>
        </p:nvSpPr>
        <p:spPr>
          <a:xfrm>
            <a:off x="2260600" y="47752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Letter + execution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0A329D-299F-2D70-E173-B6EBEB0B6D44}"/>
              </a:ext>
            </a:extLst>
          </p:cNvPr>
          <p:cNvSpPr txBox="1"/>
          <p:nvPr/>
        </p:nvSpPr>
        <p:spPr>
          <a:xfrm>
            <a:off x="4978400" y="47879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G10–G11 / S7–S8; sign, QR verify, bank acknowledgement.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6A23967-546F-7CAD-543C-9156B07761BD}"/>
              </a:ext>
            </a:extLst>
          </p:cNvPr>
          <p:cNvSpPr/>
          <p:nvPr/>
        </p:nvSpPr>
        <p:spPr>
          <a:xfrm>
            <a:off x="609600" y="5346700"/>
            <a:ext cx="10972800" cy="571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A16BFD-C14E-817B-F699-54DE76B1B8DF}"/>
              </a:ext>
            </a:extLst>
          </p:cNvPr>
          <p:cNvSpPr txBox="1"/>
          <p:nvPr/>
        </p:nvSpPr>
        <p:spPr>
          <a:xfrm>
            <a:off x="774700" y="5499100"/>
            <a:ext cx="1333500" cy="2159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 b="1">
                <a:solidFill>
                  <a:srgbClr val="3A75B0"/>
                </a:solidFill>
                <a:latin typeface="Arial" panose="020B0604020202020204" pitchFamily="34" charset="0"/>
              </a:rPr>
              <a:t>5:55–7:00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3FB369-D2E4-18AA-485D-A34FAB7BE90D}"/>
              </a:ext>
            </a:extLst>
          </p:cNvPr>
          <p:cNvSpPr txBox="1"/>
          <p:nvPr/>
        </p:nvSpPr>
        <p:spPr>
          <a:xfrm>
            <a:off x="2260600" y="5473700"/>
            <a:ext cx="2603500" cy="2667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100" b="1">
                <a:solidFill>
                  <a:srgbClr val="0B1F3A"/>
                </a:solidFill>
                <a:latin typeface="Arial" panose="020B0604020202020204" pitchFamily="34" charset="0"/>
              </a:rPr>
              <a:t>Settlement + audit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F4734B-CFC4-438B-5B60-0ACE5A91A44F}"/>
              </a:ext>
            </a:extLst>
          </p:cNvPr>
          <p:cNvSpPr txBox="1"/>
          <p:nvPr/>
        </p:nvSpPr>
        <p:spPr>
          <a:xfrm>
            <a:off x="4978400" y="5486400"/>
            <a:ext cx="6350000" cy="254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>
                <a:solidFill>
                  <a:srgbClr val="192B3F"/>
                </a:solidFill>
                <a:latin typeface="Arial" panose="020B0604020202020204" pitchFamily="34" charset="0"/>
              </a:rPr>
              <a:t>G12; confirm AICTE share and verify audit chain.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3414B1-2F65-9DEC-6ECD-F9A060E31FFD}"/>
              </a:ext>
            </a:extLst>
          </p:cNvPr>
          <p:cNvSpPr txBox="1"/>
          <p:nvPr/>
        </p:nvSpPr>
        <p:spPr>
          <a:xfrm>
            <a:off x="609600" y="6045200"/>
            <a:ext cx="10922000" cy="2286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900" b="1">
                <a:solidFill>
                  <a:srgbClr val="B74944"/>
                </a:solidFill>
                <a:latin typeface="Arial" panose="020B0604020202020204" pitchFamily="34" charset="0"/>
              </a:rPr>
              <a:t>Fallback: if an API/demo step fails, show the recorded seeded run and label it as a recording.</a:t>
            </a:r>
          </a:p>
        </p:txBody>
      </p:sp>
    </p:spTree>
    <p:extLst>
      <p:ext uri="{BB962C8B-B14F-4D97-AF65-F5344CB8AC3E}">
        <p14:creationId xmlns:p14="http://schemas.microsoft.com/office/powerpoint/2010/main" val="41468468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4EB1BB-45C1-91CA-CA03-5D76BAE623C5}"/>
              </a:ext>
            </a:extLst>
          </p:cNvPr>
          <p:cNvSpPr/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EC9D2A"/>
          </a:solidFill>
          <a:ln w="12700">
            <a:solidFill>
              <a:srgbClr val="EC9D2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CE790-D0E7-EE69-C5C3-3EC320E925E8}"/>
              </a:ext>
            </a:extLst>
          </p:cNvPr>
          <p:cNvSpPr txBox="1"/>
          <p:nvPr/>
        </p:nvSpPr>
        <p:spPr>
          <a:xfrm>
            <a:off x="787400" y="609599"/>
            <a:ext cx="635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rial" panose="020B0604020202020204" pitchFamily="34" charset="0"/>
              </a:rPr>
              <a:t>SAKSHYA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DDA6A8-B97F-3523-065F-FB38BE8BCDE5}"/>
              </a:ext>
            </a:extLst>
          </p:cNvPr>
          <p:cNvSpPr txBox="1"/>
          <p:nvPr/>
        </p:nvSpPr>
        <p:spPr>
          <a:xfrm>
            <a:off x="787400" y="1879599"/>
            <a:ext cx="104140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rial" panose="020B0604020202020204" pitchFamily="34" charset="0"/>
              </a:rPr>
              <a:t>From a claim to a verifiable chain of evidence.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B9CEC1-5705-2B75-773F-BEA7AB354873}"/>
              </a:ext>
            </a:extLst>
          </p:cNvPr>
          <p:cNvSpPr txBox="1"/>
          <p:nvPr/>
        </p:nvSpPr>
        <p:spPr>
          <a:xfrm>
            <a:off x="812800" y="3340099"/>
            <a:ext cx="10414000" cy="508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>
                <a:solidFill>
                  <a:srgbClr val="CEDDED"/>
                </a:solidFill>
                <a:latin typeface="Arial" panose="020B0604020202020204" pitchFamily="34" charset="0"/>
              </a:rPr>
              <a:t>Submit  →  Confirm  →  Monitor  →  Release  →  Verify  →  Settle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EFC648-38A5-63CE-5E74-DAAFEE45CAFE}"/>
              </a:ext>
            </a:extLst>
          </p:cNvPr>
          <p:cNvSpPr/>
          <p:nvPr/>
        </p:nvSpPr>
        <p:spPr>
          <a:xfrm>
            <a:off x="812800" y="4394200"/>
            <a:ext cx="10541000" cy="12700"/>
          </a:xfrm>
          <a:prstGeom prst="rect">
            <a:avLst/>
          </a:prstGeom>
          <a:solidFill>
            <a:srgbClr val="415976"/>
          </a:solidFill>
          <a:ln w="12700">
            <a:solidFill>
              <a:srgbClr val="41597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499212-0317-94EE-7582-933B8EBF6967}"/>
              </a:ext>
            </a:extLst>
          </p:cNvPr>
          <p:cNvSpPr txBox="1"/>
          <p:nvPr/>
        </p:nvSpPr>
        <p:spPr>
          <a:xfrm>
            <a:off x="812800" y="4825999"/>
            <a:ext cx="8890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600" b="1">
                <a:solidFill>
                  <a:srgbClr val="EC9D2A"/>
                </a:solidFill>
                <a:latin typeface="Arial" panose="020B0604020202020204" pitchFamily="34" charset="0"/>
              </a:rPr>
              <a:t>Sakshya  /  Evidence before action.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4F5A6D-783B-45C6-CC3D-E828D018D5B8}"/>
              </a:ext>
            </a:extLst>
          </p:cNvPr>
          <p:cNvSpPr txBox="1"/>
          <p:nvPr/>
        </p:nvSpPr>
        <p:spPr>
          <a:xfrm>
            <a:off x="812800" y="5664199"/>
            <a:ext cx="103505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00">
                <a:solidFill>
                  <a:srgbClr val="B1C3D7"/>
                </a:solidFill>
                <a:latin typeface="Arial" panose="020B0604020202020204" pitchFamily="34" charset="0"/>
              </a:rPr>
              <a:t>Prototype v1.0  •  SIH 2026  •  Synthetic data  •  Integration status varies by 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FD4695-10D4-07D2-89AF-6DE9F2CEAD13}"/>
              </a:ext>
            </a:extLst>
          </p:cNvPr>
          <p:cNvSpPr txBox="1"/>
          <p:nvPr/>
        </p:nvSpPr>
        <p:spPr>
          <a:xfrm>
            <a:off x="11099800" y="6477000"/>
            <a:ext cx="444500" cy="203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800" b="1">
                <a:solidFill>
                  <a:srgbClr val="A8BBD0"/>
                </a:solidFill>
                <a:latin typeface="Arial" panose="020B06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505391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1914</Words>
  <Application>Microsoft Office PowerPoint</Application>
  <PresentationFormat>Custom</PresentationFormat>
  <Paragraphs>256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wowlappy97@gmail.com</dc:creator>
  <cp:lastModifiedBy>wowlappy97@gmail.com</cp:lastModifiedBy>
  <cp:revision>1</cp:revision>
  <dcterms:created xsi:type="dcterms:W3CDTF">2026-10-25T07:17:02Z</dcterms:created>
  <dcterms:modified xsi:type="dcterms:W3CDTF">2026-10-25T07:17:03Z</dcterms:modified>
</cp:coreProperties>
</file>